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Montserrat Bold" charset="1" panose="00000800000000000000"/>
      <p:regular r:id="rId37"/>
    </p:embeddedFont>
    <p:embeddedFont>
      <p:font typeface="Montserrat" charset="1" panose="0000050000000000000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2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1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0.png" Type="http://schemas.openxmlformats.org/officeDocument/2006/relationships/image"/><Relationship Id="rId4" Target="../media/image8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53410" y="4945294"/>
            <a:ext cx="13403694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Módulo III</a:t>
            </a: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INTRODUCCIÓN AL DES</a:t>
            </a: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ARROLLO WEB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625821" y="3101642"/>
            <a:ext cx="6156658" cy="6156658"/>
          </a:xfrm>
          <a:custGeom>
            <a:avLst/>
            <a:gdLst/>
            <a:ahLst/>
            <a:cxnLst/>
            <a:rect r="r" b="b" t="t" l="l"/>
            <a:pathLst>
              <a:path h="6156658" w="6156658">
                <a:moveTo>
                  <a:pt x="0" y="0"/>
                </a:moveTo>
                <a:lnTo>
                  <a:pt x="6156658" y="0"/>
                </a:lnTo>
                <a:lnTo>
                  <a:pt x="6156658" y="6156658"/>
                </a:lnTo>
                <a:lnTo>
                  <a:pt x="0" y="61566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63591" y="1339840"/>
            <a:ext cx="12560818" cy="97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Repaso del Módulo anterior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3045" y="4052102"/>
            <a:ext cx="8752776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Formularios HTML5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Estructura y Sintaxis CSS3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spcBef>
                <a:spcPct val="0"/>
              </a:spcBef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Modelo Caja ( Box Model )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218695" y="2198697"/>
            <a:ext cx="3280718" cy="3280718"/>
          </a:xfrm>
          <a:custGeom>
            <a:avLst/>
            <a:gdLst/>
            <a:ahLst/>
            <a:cxnLst/>
            <a:rect r="r" b="b" t="t" l="l"/>
            <a:pathLst>
              <a:path h="3280718" w="3280718">
                <a:moveTo>
                  <a:pt x="0" y="0"/>
                </a:moveTo>
                <a:lnTo>
                  <a:pt x="3280718" y="0"/>
                </a:lnTo>
                <a:lnTo>
                  <a:pt x="3280718" y="3280718"/>
                </a:lnTo>
                <a:lnTo>
                  <a:pt x="0" y="3280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67576" y="5850322"/>
            <a:ext cx="6782956" cy="3878019"/>
          </a:xfrm>
          <a:custGeom>
            <a:avLst/>
            <a:gdLst/>
            <a:ahLst/>
            <a:cxnLst/>
            <a:rect r="r" b="b" t="t" l="l"/>
            <a:pathLst>
              <a:path h="3878019" w="6782956">
                <a:moveTo>
                  <a:pt x="0" y="0"/>
                </a:moveTo>
                <a:lnTo>
                  <a:pt x="6782956" y="0"/>
                </a:lnTo>
                <a:lnTo>
                  <a:pt x="6782956" y="3878019"/>
                </a:lnTo>
                <a:lnTo>
                  <a:pt x="0" y="38780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5294" y="3088022"/>
            <a:ext cx="7955479" cy="51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Una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 CSS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es como una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caja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 un n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ombre donde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guardas un valor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que usamos mucho.</a:t>
            </a:r>
          </a:p>
          <a:p>
            <a:pPr algn="l">
              <a:lnSpc>
                <a:spcPts val="5123"/>
              </a:lnSpc>
            </a:pPr>
          </a:p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(como el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color principal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la marca o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una medida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>
              <a:lnSpc>
                <a:spcPts val="512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586069" y="1028700"/>
            <a:ext cx="7115863" cy="97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Variables CSS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754852" y="6604831"/>
            <a:ext cx="5497275" cy="3142957"/>
          </a:xfrm>
          <a:custGeom>
            <a:avLst/>
            <a:gdLst/>
            <a:ahLst/>
            <a:cxnLst/>
            <a:rect r="r" b="b" t="t" l="l"/>
            <a:pathLst>
              <a:path h="3142957" w="5497275">
                <a:moveTo>
                  <a:pt x="0" y="0"/>
                </a:moveTo>
                <a:lnTo>
                  <a:pt x="5497274" y="0"/>
                </a:lnTo>
                <a:lnTo>
                  <a:pt x="5497274" y="3142956"/>
                </a:lnTo>
                <a:lnTo>
                  <a:pt x="0" y="3142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45568" y="2864825"/>
            <a:ext cx="5315843" cy="3613625"/>
          </a:xfrm>
          <a:custGeom>
            <a:avLst/>
            <a:gdLst/>
            <a:ahLst/>
            <a:cxnLst/>
            <a:rect r="r" b="b" t="t" l="l"/>
            <a:pathLst>
              <a:path h="3613625" w="5315843">
                <a:moveTo>
                  <a:pt x="0" y="0"/>
                </a:moveTo>
                <a:lnTo>
                  <a:pt x="5315842" y="0"/>
                </a:lnTo>
                <a:lnTo>
                  <a:pt x="5315842" y="3613625"/>
                </a:lnTo>
                <a:lnTo>
                  <a:pt x="0" y="3613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2271418" y="3885319"/>
            <a:ext cx="7955479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que una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esté disponible en todo el documento, 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decl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ara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del se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ect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especial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:root</a:t>
            </a:r>
          </a:p>
          <a:p>
            <a:pPr algn="l">
              <a:lnSpc>
                <a:spcPts val="512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574863" y="795345"/>
            <a:ext cx="9138275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¿Cómo se declaran? (Crear la caja)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949363" y="2710595"/>
            <a:ext cx="12915562" cy="6667790"/>
          </a:xfrm>
          <a:custGeom>
            <a:avLst/>
            <a:gdLst/>
            <a:ahLst/>
            <a:cxnLst/>
            <a:rect r="r" b="b" t="t" l="l"/>
            <a:pathLst>
              <a:path h="6667790" w="12915562">
                <a:moveTo>
                  <a:pt x="0" y="0"/>
                </a:moveTo>
                <a:lnTo>
                  <a:pt x="12915562" y="0"/>
                </a:lnTo>
                <a:lnTo>
                  <a:pt x="12915562" y="6667790"/>
                </a:lnTo>
                <a:lnTo>
                  <a:pt x="0" y="66677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Variables CSS3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5180" y="1958120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Este será nuestro HTML para este ejemplo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05626" y="4355998"/>
            <a:ext cx="13580419" cy="3124329"/>
          </a:xfrm>
          <a:custGeom>
            <a:avLst/>
            <a:gdLst/>
            <a:ahLst/>
            <a:cxnLst/>
            <a:rect r="r" b="b" t="t" l="l"/>
            <a:pathLst>
              <a:path h="3124329" w="13580419">
                <a:moveTo>
                  <a:pt x="0" y="0"/>
                </a:moveTo>
                <a:lnTo>
                  <a:pt x="13580418" y="0"/>
                </a:lnTo>
                <a:lnTo>
                  <a:pt x="13580418" y="3124330"/>
                </a:lnTo>
                <a:lnTo>
                  <a:pt x="0" y="3124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Variables CSS3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73871" y="2327599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:root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754852" y="6604831"/>
            <a:ext cx="5497275" cy="3142957"/>
          </a:xfrm>
          <a:custGeom>
            <a:avLst/>
            <a:gdLst/>
            <a:ahLst/>
            <a:cxnLst/>
            <a:rect r="r" b="b" t="t" l="l"/>
            <a:pathLst>
              <a:path h="3142957" w="5497275">
                <a:moveTo>
                  <a:pt x="0" y="0"/>
                </a:moveTo>
                <a:lnTo>
                  <a:pt x="5497274" y="0"/>
                </a:lnTo>
                <a:lnTo>
                  <a:pt x="5497274" y="3142956"/>
                </a:lnTo>
                <a:lnTo>
                  <a:pt x="0" y="3142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73513" y="2915829"/>
            <a:ext cx="5804076" cy="3895986"/>
          </a:xfrm>
          <a:custGeom>
            <a:avLst/>
            <a:gdLst/>
            <a:ahLst/>
            <a:cxnLst/>
            <a:rect r="r" b="b" t="t" l="l"/>
            <a:pathLst>
              <a:path h="3895986" w="5804076">
                <a:moveTo>
                  <a:pt x="0" y="0"/>
                </a:moveTo>
                <a:lnTo>
                  <a:pt x="5804075" y="0"/>
                </a:lnTo>
                <a:lnTo>
                  <a:pt x="5804075" y="3895986"/>
                </a:lnTo>
                <a:lnTo>
                  <a:pt x="0" y="38959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74186" y="4671638"/>
            <a:ext cx="7955479" cy="25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usar la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 cualquier elemento, utilizas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función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var( )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pasán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dole 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nombre de la variable.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4863" y="795345"/>
            <a:ext cx="9138275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¿Cómo se usan? (Abrir la caja)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146620" y="2050317"/>
            <a:ext cx="13076133" cy="7607376"/>
          </a:xfrm>
          <a:custGeom>
            <a:avLst/>
            <a:gdLst/>
            <a:ahLst/>
            <a:cxnLst/>
            <a:rect r="r" b="b" t="t" l="l"/>
            <a:pathLst>
              <a:path h="7607376" w="13076133">
                <a:moveTo>
                  <a:pt x="0" y="0"/>
                </a:moveTo>
                <a:lnTo>
                  <a:pt x="13076133" y="0"/>
                </a:lnTo>
                <a:lnTo>
                  <a:pt x="13076133" y="7607376"/>
                </a:lnTo>
                <a:lnTo>
                  <a:pt x="0" y="76073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Variables CSS3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121302" y="2991870"/>
            <a:ext cx="13243272" cy="4902701"/>
          </a:xfrm>
          <a:custGeom>
            <a:avLst/>
            <a:gdLst/>
            <a:ahLst/>
            <a:cxnLst/>
            <a:rect r="r" b="b" t="t" l="l"/>
            <a:pathLst>
              <a:path h="4902701" w="13243272">
                <a:moveTo>
                  <a:pt x="0" y="0"/>
                </a:moveTo>
                <a:lnTo>
                  <a:pt x="13243272" y="0"/>
                </a:lnTo>
                <a:lnTo>
                  <a:pt x="13243272" y="4902701"/>
                </a:lnTo>
                <a:lnTo>
                  <a:pt x="0" y="4902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Variables CSS3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73871" y="2327599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124331" y="6643723"/>
            <a:ext cx="5497275" cy="3142957"/>
          </a:xfrm>
          <a:custGeom>
            <a:avLst/>
            <a:gdLst/>
            <a:ahLst/>
            <a:cxnLst/>
            <a:rect r="r" b="b" t="t" l="l"/>
            <a:pathLst>
              <a:path h="3142957" w="5497275">
                <a:moveTo>
                  <a:pt x="0" y="0"/>
                </a:moveTo>
                <a:lnTo>
                  <a:pt x="5497274" y="0"/>
                </a:lnTo>
                <a:lnTo>
                  <a:pt x="5497274" y="3142957"/>
                </a:lnTo>
                <a:lnTo>
                  <a:pt x="0" y="31429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57689" y="2849440"/>
            <a:ext cx="7091599" cy="3545800"/>
          </a:xfrm>
          <a:custGeom>
            <a:avLst/>
            <a:gdLst/>
            <a:ahLst/>
            <a:cxnLst/>
            <a:rect r="r" b="b" t="t" l="l"/>
            <a:pathLst>
              <a:path h="3545800" w="7091599">
                <a:moveTo>
                  <a:pt x="0" y="0"/>
                </a:moveTo>
                <a:lnTo>
                  <a:pt x="7091600" y="0"/>
                </a:lnTo>
                <a:lnTo>
                  <a:pt x="7091600" y="3545800"/>
                </a:lnTo>
                <a:lnTo>
                  <a:pt x="0" y="3545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40831" y="3465969"/>
            <a:ext cx="7955479" cy="453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tienes que memorizar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códigos de colo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difíc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ile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ni cambiarlos uno por uno. Si el verde pasa a ser morado, solo cambias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#27ae60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una 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ola vez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arr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iba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:root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to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la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página se actu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z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4863" y="795345"/>
            <a:ext cx="9138275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Ventaja Clave de usar Variables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702597" y="2085284"/>
            <a:ext cx="7112956" cy="3934321"/>
          </a:xfrm>
          <a:custGeom>
            <a:avLst/>
            <a:gdLst/>
            <a:ahLst/>
            <a:cxnLst/>
            <a:rect r="r" b="b" t="t" l="l"/>
            <a:pathLst>
              <a:path h="3934321" w="7112956">
                <a:moveTo>
                  <a:pt x="0" y="0"/>
                </a:moveTo>
                <a:lnTo>
                  <a:pt x="7112956" y="0"/>
                </a:lnTo>
                <a:lnTo>
                  <a:pt x="7112956" y="3934321"/>
                </a:lnTo>
                <a:lnTo>
                  <a:pt x="0" y="39343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691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799953" y="6137708"/>
            <a:ext cx="6918244" cy="3891512"/>
          </a:xfrm>
          <a:custGeom>
            <a:avLst/>
            <a:gdLst/>
            <a:ahLst/>
            <a:cxnLst/>
            <a:rect r="r" b="b" t="t" l="l"/>
            <a:pathLst>
              <a:path h="3891512" w="6918244">
                <a:moveTo>
                  <a:pt x="0" y="0"/>
                </a:moveTo>
                <a:lnTo>
                  <a:pt x="6918244" y="0"/>
                </a:lnTo>
                <a:lnTo>
                  <a:pt x="6918244" y="3891512"/>
                </a:lnTo>
                <a:lnTo>
                  <a:pt x="0" y="3891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2160834" y="3971572"/>
            <a:ext cx="6983166" cy="388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las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pseudo-clases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son los reflejos de la página: le avisan a los elementos cómo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deben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reaccionar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cuando el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usuario interactúa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 ellos.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4863" y="795345"/>
            <a:ext cx="913827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Pseudo-clases CSS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071524" y="2870524"/>
            <a:ext cx="12144953" cy="5988965"/>
          </a:xfrm>
          <a:custGeom>
            <a:avLst/>
            <a:gdLst/>
            <a:ahLst/>
            <a:cxnLst/>
            <a:rect r="r" b="b" t="t" l="l"/>
            <a:pathLst>
              <a:path h="5988965" w="12144953">
                <a:moveTo>
                  <a:pt x="0" y="0"/>
                </a:moveTo>
                <a:lnTo>
                  <a:pt x="12144952" y="0"/>
                </a:lnTo>
                <a:lnTo>
                  <a:pt x="12144952" y="5988965"/>
                </a:lnTo>
                <a:lnTo>
                  <a:pt x="0" y="5988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D4172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Pseudo-clases CSS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9851" y="2040099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Este será nuestro HTML para este ejemplo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45326" y="1942622"/>
            <a:ext cx="5797348" cy="8193820"/>
          </a:xfrm>
          <a:custGeom>
            <a:avLst/>
            <a:gdLst/>
            <a:ahLst/>
            <a:cxnLst/>
            <a:rect r="r" b="b" t="t" l="l"/>
            <a:pathLst>
              <a:path h="8193820" w="5797348">
                <a:moveTo>
                  <a:pt x="0" y="0"/>
                </a:moveTo>
                <a:lnTo>
                  <a:pt x="5797348" y="0"/>
                </a:lnTo>
                <a:lnTo>
                  <a:pt x="5797348" y="8193820"/>
                </a:lnTo>
                <a:lnTo>
                  <a:pt x="0" y="819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Pseudo-clases CSS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077421" y="2551055"/>
            <a:ext cx="6768241" cy="6115467"/>
          </a:xfrm>
          <a:custGeom>
            <a:avLst/>
            <a:gdLst/>
            <a:ahLst/>
            <a:cxnLst/>
            <a:rect r="r" b="b" t="t" l="l"/>
            <a:pathLst>
              <a:path h="6115467" w="6768241">
                <a:moveTo>
                  <a:pt x="0" y="0"/>
                </a:moveTo>
                <a:lnTo>
                  <a:pt x="6768241" y="0"/>
                </a:lnTo>
                <a:lnTo>
                  <a:pt x="6768241" y="6115467"/>
                </a:lnTo>
                <a:lnTo>
                  <a:pt x="0" y="6115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843" t="-47030" r="-55828" b="-11634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2510867" y="3341839"/>
            <a:ext cx="6983166" cy="453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Flexbox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como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organizar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los asientos en la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fila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un autobús o acomo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dar libros en una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pis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tú def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si van en fil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horizontal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 columna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vertical.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74863" y="795345"/>
            <a:ext cx="913827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Flexbox CSS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689122" y="4726934"/>
            <a:ext cx="8048031" cy="2107818"/>
          </a:xfrm>
          <a:custGeom>
            <a:avLst/>
            <a:gdLst/>
            <a:ahLst/>
            <a:cxnLst/>
            <a:rect r="r" b="b" t="t" l="l"/>
            <a:pathLst>
              <a:path h="2107818" w="8048031">
                <a:moveTo>
                  <a:pt x="0" y="0"/>
                </a:moveTo>
                <a:lnTo>
                  <a:pt x="8048031" y="0"/>
                </a:lnTo>
                <a:lnTo>
                  <a:pt x="8048031" y="2107817"/>
                </a:lnTo>
                <a:lnTo>
                  <a:pt x="0" y="2107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2510867" y="3351364"/>
            <a:ext cx="6983166" cy="599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usar Flexbox, siempre necesitas dos actores: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Contenedor (Padre):</a:t>
            </a: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Es el que enciende el "mo</a:t>
            </a: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 flexible".</a:t>
            </a:r>
          </a:p>
          <a:p>
            <a:pPr algn="l">
              <a:lnSpc>
                <a:spcPts val="4799"/>
              </a:lnSpc>
            </a:p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 Elementos (Hijos):</a:t>
            </a: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Son los que están adentro y se acomodan solitos.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74863" y="795345"/>
            <a:ext cx="9138275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¿Cómo se usa el Flexbox?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022047" y="7149225"/>
            <a:ext cx="4441016" cy="4441016"/>
          </a:xfrm>
          <a:custGeom>
            <a:avLst/>
            <a:gdLst/>
            <a:ahLst/>
            <a:cxnLst/>
            <a:rect r="r" b="b" t="t" l="l"/>
            <a:pathLst>
              <a:path h="4441016" w="4441016">
                <a:moveTo>
                  <a:pt x="0" y="0"/>
                </a:moveTo>
                <a:lnTo>
                  <a:pt x="4441016" y="0"/>
                </a:lnTo>
                <a:lnTo>
                  <a:pt x="4441016" y="4441016"/>
                </a:lnTo>
                <a:lnTo>
                  <a:pt x="0" y="4441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689122" y="4726934"/>
            <a:ext cx="8048031" cy="2107818"/>
          </a:xfrm>
          <a:custGeom>
            <a:avLst/>
            <a:gdLst/>
            <a:ahLst/>
            <a:cxnLst/>
            <a:rect r="r" b="b" t="t" l="l"/>
            <a:pathLst>
              <a:path h="2107818" w="8048031">
                <a:moveTo>
                  <a:pt x="0" y="0"/>
                </a:moveTo>
                <a:lnTo>
                  <a:pt x="8048031" y="0"/>
                </a:lnTo>
                <a:lnTo>
                  <a:pt x="8048031" y="2107817"/>
                </a:lnTo>
                <a:lnTo>
                  <a:pt x="0" y="2107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2413636" y="3690105"/>
            <a:ext cx="6983166" cy="419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 hacer esto, por defecto los e</a:t>
            </a: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eme</a:t>
            </a: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nto</a:t>
            </a: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hijos se </a:t>
            </a:r>
            <a:r>
              <a:rPr lang="en-US" b="true" sz="3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alinean en una fila horiz</a:t>
            </a:r>
            <a:r>
              <a:rPr lang="en-US" b="true" sz="39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ontal de izquierda a derecha</a:t>
            </a: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se estiran para ocupar el espacio necesario.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74863" y="795345"/>
            <a:ext cx="9138275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¿Cómo se usa el Flexbox?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022047" y="7149225"/>
            <a:ext cx="4441016" cy="4441016"/>
          </a:xfrm>
          <a:custGeom>
            <a:avLst/>
            <a:gdLst/>
            <a:ahLst/>
            <a:cxnLst/>
            <a:rect r="r" b="b" t="t" l="l"/>
            <a:pathLst>
              <a:path h="4441016" w="4441016">
                <a:moveTo>
                  <a:pt x="0" y="0"/>
                </a:moveTo>
                <a:lnTo>
                  <a:pt x="4441016" y="0"/>
                </a:lnTo>
                <a:lnTo>
                  <a:pt x="4441016" y="4441016"/>
                </a:lnTo>
                <a:lnTo>
                  <a:pt x="0" y="4441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80884" y="3447225"/>
            <a:ext cx="15403400" cy="561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443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justify-content (Alineación Horizontal / Eje Principal):</a:t>
            </a: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Mueve los elementos a lo largo de la fila (izquierda, centro, derecha o distribuidos).</a:t>
            </a:r>
          </a:p>
          <a:p>
            <a:pPr algn="l">
              <a:lnSpc>
                <a:spcPts val="4439"/>
              </a:lnSpc>
            </a:pPr>
          </a:p>
          <a:p>
            <a:pPr algn="l" marL="3195318" indent="-639064" lvl="4">
              <a:lnSpc>
                <a:spcPts val="4439"/>
              </a:lnSpc>
              <a:buAutoNum type="arabicPeriod" startAt="1"/>
            </a:pPr>
            <a:r>
              <a:rPr lang="en-US" b="true" sz="36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justify-content: center;</a:t>
            </a: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⟶ Todos los elementos al centro.</a:t>
            </a:r>
          </a:p>
          <a:p>
            <a:pPr algn="l" marL="3195318" indent="-639064" lvl="4">
              <a:lnSpc>
                <a:spcPts val="4439"/>
              </a:lnSpc>
              <a:spcBef>
                <a:spcPct val="0"/>
              </a:spcBef>
              <a:buAutoNum type="arabicPeriod" startAt="1"/>
            </a:pPr>
            <a:r>
              <a:rPr lang="en-US" b="true" sz="36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justify-content: space-between;</a:t>
            </a: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⟶  Pone un elemento al inicio, otro al final y reparte el espacio restante uniformemente en medio (ideal para menús de navegación).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1522" y="1164824"/>
            <a:ext cx="15224957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 3 superpoderes de Flexbox para controlar el diseño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36454" y="3486117"/>
            <a:ext cx="15403400" cy="618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443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align-items (Alineación Vertical / Eje Secundario): </a:t>
            </a: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Mueve los elementos de arriba hacia abajo.</a:t>
            </a:r>
          </a:p>
          <a:p>
            <a:pPr algn="l">
              <a:lnSpc>
                <a:spcPts val="4439"/>
              </a:lnSpc>
            </a:pPr>
          </a:p>
          <a:p>
            <a:pPr algn="l" marL="3195318" indent="-639064" lvl="4">
              <a:lnSpc>
                <a:spcPts val="4439"/>
              </a:lnSpc>
              <a:buAutoNum type="arabicPeriod" startAt="1"/>
            </a:pPr>
            <a:r>
              <a:rPr lang="en-US" b="true" sz="36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</a:t>
            </a:r>
            <a:r>
              <a:rPr lang="en-US" b="true" sz="36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ign-items: center; ⟶  </a:t>
            </a: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Centra todos los elementos verticalmente. </a:t>
            </a:r>
          </a:p>
          <a:p>
            <a:pPr algn="l">
              <a:lnSpc>
                <a:spcPts val="4439"/>
              </a:lnSpc>
            </a:pPr>
          </a:p>
          <a:p>
            <a:pPr algn="l" marL="798829" indent="-399415" lvl="1">
              <a:lnSpc>
                <a:spcPts val="443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flex-direction (Cambiar de dirección):</a:t>
            </a: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Por defecto es en fila (row), pero puedes cambiarlo a columna vertical con una sola línea:</a:t>
            </a:r>
          </a:p>
          <a:p>
            <a:pPr algn="l" marL="3195318" indent="-639064" lvl="4">
              <a:lnSpc>
                <a:spcPts val="4439"/>
              </a:lnSpc>
              <a:spcBef>
                <a:spcPct val="0"/>
              </a:spcBef>
              <a:buAutoNum type="arabicPeriod" startAt="1"/>
            </a:pPr>
            <a:r>
              <a:rPr lang="en-US" b="true" sz="36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flex-direction: column;</a:t>
            </a: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⟶  Apila los elementos uno debajo del otro.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1522" y="1164824"/>
            <a:ext cx="15224957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 3 superpoderes de Flexbox para controlar el diseño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433398" y="1884360"/>
            <a:ext cx="13827268" cy="8001653"/>
          </a:xfrm>
          <a:custGeom>
            <a:avLst/>
            <a:gdLst/>
            <a:ahLst/>
            <a:cxnLst/>
            <a:rect r="r" b="b" t="t" l="l"/>
            <a:pathLst>
              <a:path h="8001653" w="13827268">
                <a:moveTo>
                  <a:pt x="0" y="0"/>
                </a:moveTo>
                <a:lnTo>
                  <a:pt x="13827268" y="0"/>
                </a:lnTo>
                <a:lnTo>
                  <a:pt x="13827268" y="8001653"/>
                </a:lnTo>
                <a:lnTo>
                  <a:pt x="0" y="80016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580422" y="6396471"/>
            <a:ext cx="5462419" cy="5469861"/>
          </a:xfrm>
          <a:custGeom>
            <a:avLst/>
            <a:gdLst/>
            <a:ahLst/>
            <a:cxnLst/>
            <a:rect r="r" b="b" t="t" l="l"/>
            <a:pathLst>
              <a:path h="5469861" w="5462419">
                <a:moveTo>
                  <a:pt x="5462419" y="0"/>
                </a:moveTo>
                <a:lnTo>
                  <a:pt x="0" y="0"/>
                </a:lnTo>
                <a:lnTo>
                  <a:pt x="0" y="5469861"/>
                </a:lnTo>
                <a:lnTo>
                  <a:pt x="5462419" y="5469861"/>
                </a:lnTo>
                <a:lnTo>
                  <a:pt x="546241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Flexbox CSS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-1580422" y="6396471"/>
            <a:ext cx="5462419" cy="5469861"/>
          </a:xfrm>
          <a:custGeom>
            <a:avLst/>
            <a:gdLst/>
            <a:ahLst/>
            <a:cxnLst/>
            <a:rect r="r" b="b" t="t" l="l"/>
            <a:pathLst>
              <a:path h="5469861" w="5462419">
                <a:moveTo>
                  <a:pt x="5462419" y="0"/>
                </a:moveTo>
                <a:lnTo>
                  <a:pt x="0" y="0"/>
                </a:lnTo>
                <a:lnTo>
                  <a:pt x="0" y="5469861"/>
                </a:lnTo>
                <a:lnTo>
                  <a:pt x="5462419" y="5469861"/>
                </a:lnTo>
                <a:lnTo>
                  <a:pt x="546241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57063" y="1028700"/>
            <a:ext cx="8223571" cy="8810969"/>
          </a:xfrm>
          <a:custGeom>
            <a:avLst/>
            <a:gdLst/>
            <a:ahLst/>
            <a:cxnLst/>
            <a:rect r="r" b="b" t="t" l="l"/>
            <a:pathLst>
              <a:path h="8810969" w="8223571">
                <a:moveTo>
                  <a:pt x="0" y="0"/>
                </a:moveTo>
                <a:lnTo>
                  <a:pt x="8223572" y="0"/>
                </a:lnTo>
                <a:lnTo>
                  <a:pt x="8223572" y="8810969"/>
                </a:lnTo>
                <a:lnTo>
                  <a:pt x="0" y="88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Flexbox CSS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023529" y="8150708"/>
            <a:ext cx="3439534" cy="3439534"/>
          </a:xfrm>
          <a:custGeom>
            <a:avLst/>
            <a:gdLst/>
            <a:ahLst/>
            <a:cxnLst/>
            <a:rect r="r" b="b" t="t" l="l"/>
            <a:pathLst>
              <a:path h="3439534" w="3439534">
                <a:moveTo>
                  <a:pt x="0" y="0"/>
                </a:moveTo>
                <a:lnTo>
                  <a:pt x="3439534" y="0"/>
                </a:lnTo>
                <a:lnTo>
                  <a:pt x="3439534" y="3439533"/>
                </a:lnTo>
                <a:lnTo>
                  <a:pt x="0" y="3439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1927" y="3239994"/>
            <a:ext cx="16067373" cy="3863442"/>
          </a:xfrm>
          <a:custGeom>
            <a:avLst/>
            <a:gdLst/>
            <a:ahLst/>
            <a:cxnLst/>
            <a:rect r="r" b="b" t="t" l="l"/>
            <a:pathLst>
              <a:path h="3863442" w="16067373">
                <a:moveTo>
                  <a:pt x="0" y="0"/>
                </a:moveTo>
                <a:lnTo>
                  <a:pt x="16067373" y="0"/>
                </a:lnTo>
                <a:lnTo>
                  <a:pt x="16067373" y="3863442"/>
                </a:lnTo>
                <a:lnTo>
                  <a:pt x="0" y="3863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2229851" y="1271580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Flexbox CSS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29851" y="2623487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648053" y="2663343"/>
            <a:ext cx="8130169" cy="6032988"/>
          </a:xfrm>
          <a:custGeom>
            <a:avLst/>
            <a:gdLst/>
            <a:ahLst/>
            <a:cxnLst/>
            <a:rect r="r" b="b" t="t" l="l"/>
            <a:pathLst>
              <a:path h="6032988" w="8130169">
                <a:moveTo>
                  <a:pt x="0" y="0"/>
                </a:moveTo>
                <a:lnTo>
                  <a:pt x="8130169" y="0"/>
                </a:lnTo>
                <a:lnTo>
                  <a:pt x="8130169" y="6032988"/>
                </a:lnTo>
                <a:lnTo>
                  <a:pt x="0" y="6032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91421" y="3089037"/>
            <a:ext cx="6983166" cy="51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Mientras que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Flexbox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trabaja en una sola dirección (o fila o column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a),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CSS Grid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trabaja en dos dimensiones al mismo tiempo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(filas y columnas combinadas).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74863" y="795345"/>
            <a:ext cx="913827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CSS Grid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55900" y="2719762"/>
            <a:ext cx="15403400" cy="618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443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display: grid; :</a:t>
            </a: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Convierte la caja en una cuadrícula.</a:t>
            </a:r>
          </a:p>
          <a:p>
            <a:pPr algn="l">
              <a:lnSpc>
                <a:spcPts val="4439"/>
              </a:lnSpc>
            </a:pPr>
          </a:p>
          <a:p>
            <a:pPr algn="l" marL="798829" indent="-399415" lvl="1">
              <a:lnSpc>
                <a:spcPts val="443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grid-template-columns:</a:t>
            </a: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Define cuántas columnas quieres y qué tan anchas serán.</a:t>
            </a:r>
          </a:p>
          <a:p>
            <a:pPr algn="l">
              <a:lnSpc>
                <a:spcPts val="4439"/>
              </a:lnSpc>
            </a:pP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</a:t>
            </a:r>
            <a:r>
              <a:rPr lang="en-US" sz="3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Ejemplo:</a:t>
            </a: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grid-template-columns: repeat(3, 1fr); (Crea 3  columnas de igual tamaño. El fr significa "fracción" del espacio disponible).</a:t>
            </a:r>
          </a:p>
          <a:p>
            <a:pPr algn="l">
              <a:lnSpc>
                <a:spcPts val="4439"/>
              </a:lnSpc>
            </a:pPr>
          </a:p>
          <a:p>
            <a:pPr algn="l" marL="798829" indent="-399415" lvl="1">
              <a:lnSpc>
                <a:spcPts val="4439"/>
              </a:lnSpc>
              <a:buFont typeface="Arial"/>
              <a:buChar char="•"/>
            </a:pPr>
            <a:r>
              <a:rPr lang="en-US" b="true" sz="36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gap:</a:t>
            </a: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Controla el espacio de separación entre las casillas (filas y columnas) sin necesidad de usar márgenes complicados.</a:t>
            </a:r>
          </a:p>
          <a:p>
            <a:pPr algn="l">
              <a:lnSpc>
                <a:spcPts val="443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</a:t>
            </a:r>
            <a:r>
              <a:rPr lang="en-US" b="true" sz="36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Ejemplo:</a:t>
            </a:r>
            <a:r>
              <a:rPr lang="en-US" sz="3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gap: 15px;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1522" y="1164824"/>
            <a:ext cx="15224957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Las 3 reglas de oro de Grid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-1580422" y="6396471"/>
            <a:ext cx="5462419" cy="5469861"/>
          </a:xfrm>
          <a:custGeom>
            <a:avLst/>
            <a:gdLst/>
            <a:ahLst/>
            <a:cxnLst/>
            <a:rect r="r" b="b" t="t" l="l"/>
            <a:pathLst>
              <a:path h="5469861" w="5462419">
                <a:moveTo>
                  <a:pt x="5462419" y="0"/>
                </a:moveTo>
                <a:lnTo>
                  <a:pt x="0" y="0"/>
                </a:lnTo>
                <a:lnTo>
                  <a:pt x="0" y="5469861"/>
                </a:lnTo>
                <a:lnTo>
                  <a:pt x="5462419" y="5469861"/>
                </a:lnTo>
                <a:lnTo>
                  <a:pt x="546241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99818" y="2710595"/>
            <a:ext cx="10014651" cy="7179925"/>
          </a:xfrm>
          <a:custGeom>
            <a:avLst/>
            <a:gdLst/>
            <a:ahLst/>
            <a:cxnLst/>
            <a:rect r="r" b="b" t="t" l="l"/>
            <a:pathLst>
              <a:path h="7179925" w="10014651">
                <a:moveTo>
                  <a:pt x="0" y="0"/>
                </a:moveTo>
                <a:lnTo>
                  <a:pt x="10014651" y="0"/>
                </a:lnTo>
                <a:lnTo>
                  <a:pt x="10014651" y="7179925"/>
                </a:lnTo>
                <a:lnTo>
                  <a:pt x="0" y="7179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CSS Grid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5180" y="1958120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Este será nuestro HTML para este ejemplo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-1580422" y="6396471"/>
            <a:ext cx="5462419" cy="5469861"/>
          </a:xfrm>
          <a:custGeom>
            <a:avLst/>
            <a:gdLst/>
            <a:ahLst/>
            <a:cxnLst/>
            <a:rect r="r" b="b" t="t" l="l"/>
            <a:pathLst>
              <a:path h="5469861" w="5462419">
                <a:moveTo>
                  <a:pt x="5462419" y="0"/>
                </a:moveTo>
                <a:lnTo>
                  <a:pt x="0" y="0"/>
                </a:lnTo>
                <a:lnTo>
                  <a:pt x="0" y="5469861"/>
                </a:lnTo>
                <a:lnTo>
                  <a:pt x="5462419" y="5469861"/>
                </a:lnTo>
                <a:lnTo>
                  <a:pt x="546241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92367" y="2710595"/>
            <a:ext cx="9829553" cy="6939902"/>
          </a:xfrm>
          <a:custGeom>
            <a:avLst/>
            <a:gdLst/>
            <a:ahLst/>
            <a:cxnLst/>
            <a:rect r="r" b="b" t="t" l="l"/>
            <a:pathLst>
              <a:path h="6939902" w="9829553">
                <a:moveTo>
                  <a:pt x="0" y="0"/>
                </a:moveTo>
                <a:lnTo>
                  <a:pt x="9829554" y="0"/>
                </a:lnTo>
                <a:lnTo>
                  <a:pt x="9829554" y="6939901"/>
                </a:lnTo>
                <a:lnTo>
                  <a:pt x="0" y="69399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CSS Grid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85180" y="1958120"/>
            <a:ext cx="140439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Este será nuestro CSS para este ejemplo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826519" y="3089037"/>
            <a:ext cx="7894363" cy="4440579"/>
          </a:xfrm>
          <a:custGeom>
            <a:avLst/>
            <a:gdLst/>
            <a:ahLst/>
            <a:cxnLst/>
            <a:rect r="r" b="b" t="t" l="l"/>
            <a:pathLst>
              <a:path h="4440579" w="7894363">
                <a:moveTo>
                  <a:pt x="0" y="0"/>
                </a:moveTo>
                <a:lnTo>
                  <a:pt x="7894363" y="0"/>
                </a:lnTo>
                <a:lnTo>
                  <a:pt x="7894363" y="4440579"/>
                </a:lnTo>
                <a:lnTo>
                  <a:pt x="0" y="4440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91421" y="3283500"/>
            <a:ext cx="6652579" cy="453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un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enfoque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desarrollo web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que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 que un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sitio se adapte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automáticamente 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maño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resolución de cualquier dispositivo.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45628" y="834237"/>
            <a:ext cx="1059674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el Responsive?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144000" y="3465572"/>
            <a:ext cx="8301969" cy="4337779"/>
          </a:xfrm>
          <a:custGeom>
            <a:avLst/>
            <a:gdLst/>
            <a:ahLst/>
            <a:cxnLst/>
            <a:rect r="r" b="b" t="t" l="l"/>
            <a:pathLst>
              <a:path h="4337779" w="8301969">
                <a:moveTo>
                  <a:pt x="0" y="0"/>
                </a:moveTo>
                <a:lnTo>
                  <a:pt x="8301969" y="0"/>
                </a:lnTo>
                <a:lnTo>
                  <a:pt x="8301969" y="4337779"/>
                </a:lnTo>
                <a:lnTo>
                  <a:pt x="0" y="4337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42875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2491421" y="3043661"/>
            <a:ext cx="6652579" cy="518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  <a:spcBef>
                <a:spcPct val="0"/>
              </a:spcBef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 CSS, una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media query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es una regla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que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aplicar estilos condicionalmente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según las c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í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del </a:t>
            </a:r>
            <a:r>
              <a:rPr lang="en-US" b="true" sz="42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dispositivo o del entorno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donde se visualiza la página,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45628" y="834237"/>
            <a:ext cx="10596745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Media Query?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-1580422" y="6396471"/>
            <a:ext cx="5462419" cy="5469861"/>
          </a:xfrm>
          <a:custGeom>
            <a:avLst/>
            <a:gdLst/>
            <a:ahLst/>
            <a:cxnLst/>
            <a:rect r="r" b="b" t="t" l="l"/>
            <a:pathLst>
              <a:path h="5469861" w="5462419">
                <a:moveTo>
                  <a:pt x="5462419" y="0"/>
                </a:moveTo>
                <a:lnTo>
                  <a:pt x="0" y="0"/>
                </a:lnTo>
                <a:lnTo>
                  <a:pt x="0" y="5469861"/>
                </a:lnTo>
                <a:lnTo>
                  <a:pt x="5462419" y="5469861"/>
                </a:lnTo>
                <a:lnTo>
                  <a:pt x="546241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93713" y="1486907"/>
            <a:ext cx="11396905" cy="8551697"/>
          </a:xfrm>
          <a:custGeom>
            <a:avLst/>
            <a:gdLst/>
            <a:ahLst/>
            <a:cxnLst/>
            <a:rect r="r" b="b" t="t" l="l"/>
            <a:pathLst>
              <a:path h="8551697" w="11396905">
                <a:moveTo>
                  <a:pt x="0" y="0"/>
                </a:moveTo>
                <a:lnTo>
                  <a:pt x="11396905" y="0"/>
                </a:lnTo>
                <a:lnTo>
                  <a:pt x="11396905" y="8551697"/>
                </a:lnTo>
                <a:lnTo>
                  <a:pt x="0" y="8551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2190958" y="902101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Media Query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8489" y="4133980"/>
            <a:ext cx="4165224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Este será nuestro HTML para este ejemplo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356274" y="1616476"/>
            <a:ext cx="8665304" cy="8541514"/>
          </a:xfrm>
          <a:custGeom>
            <a:avLst/>
            <a:gdLst/>
            <a:ahLst/>
            <a:cxnLst/>
            <a:rect r="r" b="b" t="t" l="l"/>
            <a:pathLst>
              <a:path h="8541514" w="8665304">
                <a:moveTo>
                  <a:pt x="0" y="0"/>
                </a:moveTo>
                <a:lnTo>
                  <a:pt x="8665304" y="0"/>
                </a:lnTo>
                <a:lnTo>
                  <a:pt x="8665304" y="8541514"/>
                </a:lnTo>
                <a:lnTo>
                  <a:pt x="0" y="8541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true" flipV="false" rot="0">
            <a:off x="-1580422" y="6396471"/>
            <a:ext cx="5462419" cy="5469861"/>
          </a:xfrm>
          <a:custGeom>
            <a:avLst/>
            <a:gdLst/>
            <a:ahLst/>
            <a:cxnLst/>
            <a:rect r="r" b="b" t="t" l="l"/>
            <a:pathLst>
              <a:path h="5469861" w="5462419">
                <a:moveTo>
                  <a:pt x="5462419" y="0"/>
                </a:moveTo>
                <a:lnTo>
                  <a:pt x="0" y="0"/>
                </a:lnTo>
                <a:lnTo>
                  <a:pt x="0" y="5469861"/>
                </a:lnTo>
                <a:lnTo>
                  <a:pt x="5462419" y="5469861"/>
                </a:lnTo>
                <a:lnTo>
                  <a:pt x="546241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35597" y="1972031"/>
            <a:ext cx="6742172" cy="6055072"/>
          </a:xfrm>
          <a:custGeom>
            <a:avLst/>
            <a:gdLst/>
            <a:ahLst/>
            <a:cxnLst/>
            <a:rect r="r" b="b" t="t" l="l"/>
            <a:pathLst>
              <a:path h="6055072" w="6742172">
                <a:moveTo>
                  <a:pt x="0" y="0"/>
                </a:moveTo>
                <a:lnTo>
                  <a:pt x="6742172" y="0"/>
                </a:lnTo>
                <a:lnTo>
                  <a:pt x="6742172" y="6055072"/>
                </a:lnTo>
                <a:lnTo>
                  <a:pt x="0" y="60550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2190958" y="902101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Media Query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54523" y="8198250"/>
            <a:ext cx="4165224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>
                <a:solidFill>
                  <a:srgbClr val="1817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Este será nuestro CSS para este ejemplo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90310" y="3967441"/>
            <a:ext cx="13403694" cy="433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III</a:t>
            </a:r>
          </a:p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Modificar el blog creado en la clase pasada para que sea adaptable a cualquier pantalla utilizando las nuevas herramientas de CSS3.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DAHYaE_GNJY</dc:identifier>
  <dcterms:modified xsi:type="dcterms:W3CDTF">2011-08-01T06:04:30Z</dcterms:modified>
  <cp:revision>1</cp:revision>
  <dc:title>Curso de Introducción al Desarrollo Web Módulo III</dc:title>
</cp:coreProperties>
</file>