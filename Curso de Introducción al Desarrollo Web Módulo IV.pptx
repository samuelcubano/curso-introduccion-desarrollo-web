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Montserrat Bold" charset="1" panose="00000800000000000000"/>
      <p:regular r:id="rId22"/>
    </p:embeddedFont>
    <p:embeddedFont>
      <p:font typeface="Montserrat" charset="1" panose="00000500000000000000"/>
      <p:regular r:id="rId23"/>
    </p:embeddedFont>
    <p:embeddedFont>
      <p:font typeface="DM Sans Bold" charset="1" panose="00000000000000000000"/>
      <p:regular r:id="rId24"/>
    </p:embeddedFont>
    <p:embeddedFont>
      <p:font typeface="DM Sans" charset="1" panose="00000000000000000000"/>
      <p:regular r:id="rId25"/>
    </p:embeddedFont>
    <p:embeddedFont>
      <p:font typeface="DM Sans Italics" charset="1" panose="000000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3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053410" y="4945294"/>
            <a:ext cx="13403694" cy="143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Módulo IV</a:t>
            </a:r>
          </a:p>
          <a:p>
            <a:pPr algn="ctr">
              <a:lnSpc>
                <a:spcPts val="5759"/>
              </a:lnSpc>
            </a:pPr>
            <a:r>
              <a:rPr lang="en-US" b="true" sz="4800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INTRODUCCIÓN AL DES</a:t>
            </a:r>
            <a:r>
              <a:rPr lang="en-US" b="true" sz="4800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ARROLLO WEB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625821" y="3101642"/>
            <a:ext cx="6156658" cy="6156658"/>
          </a:xfrm>
          <a:custGeom>
            <a:avLst/>
            <a:gdLst/>
            <a:ahLst/>
            <a:cxnLst/>
            <a:rect r="r" b="b" t="t" l="l"/>
            <a:pathLst>
              <a:path h="6156658" w="6156658">
                <a:moveTo>
                  <a:pt x="0" y="0"/>
                </a:moveTo>
                <a:lnTo>
                  <a:pt x="6156658" y="0"/>
                </a:lnTo>
                <a:lnTo>
                  <a:pt x="6156658" y="6156658"/>
                </a:lnTo>
                <a:lnTo>
                  <a:pt x="0" y="61566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863591" y="1339840"/>
            <a:ext cx="12560818" cy="970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2"/>
              </a:lnSpc>
            </a:pPr>
            <a:r>
              <a:rPr lang="en-US" b="true" sz="6435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Repaso del Módulo anterior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17474" y="4236871"/>
            <a:ext cx="9258379" cy="3886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21850" indent="-460925" lvl="1">
              <a:lnSpc>
                <a:spcPts val="5123"/>
              </a:lnSpc>
              <a:buFont typeface="Arial"/>
              <a:buChar char="•"/>
            </a:pP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Layouts con Flexbot y CSS Grid</a:t>
            </a:r>
          </a:p>
          <a:p>
            <a:pPr algn="l">
              <a:lnSpc>
                <a:spcPts val="5123"/>
              </a:lnSpc>
            </a:pPr>
          </a:p>
          <a:p>
            <a:pPr algn="l" marL="921850" indent="-460925" lvl="1">
              <a:lnSpc>
                <a:spcPts val="5123"/>
              </a:lnSpc>
              <a:buFont typeface="Arial"/>
              <a:buChar char="•"/>
            </a:pP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Diseño Responsive</a:t>
            </a:r>
          </a:p>
          <a:p>
            <a:pPr algn="l">
              <a:lnSpc>
                <a:spcPts val="5123"/>
              </a:lnSpc>
            </a:pPr>
          </a:p>
          <a:p>
            <a:pPr algn="l" marL="921850" indent="-460925" lvl="1">
              <a:lnSpc>
                <a:spcPts val="5123"/>
              </a:lnSpc>
              <a:spcBef>
                <a:spcPct val="0"/>
              </a:spcBef>
              <a:buFont typeface="Arial"/>
              <a:buChar char="•"/>
            </a:pP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Variables CSS y Pseudo-clases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955061" y="3190353"/>
            <a:ext cx="5126006" cy="5126006"/>
          </a:xfrm>
          <a:custGeom>
            <a:avLst/>
            <a:gdLst/>
            <a:ahLst/>
            <a:cxnLst/>
            <a:rect r="r" b="b" t="t" l="l"/>
            <a:pathLst>
              <a:path h="5126006" w="5126006">
                <a:moveTo>
                  <a:pt x="0" y="0"/>
                </a:moveTo>
                <a:lnTo>
                  <a:pt x="5126006" y="0"/>
                </a:lnTo>
                <a:lnTo>
                  <a:pt x="5126006" y="5126006"/>
                </a:lnTo>
                <a:lnTo>
                  <a:pt x="0" y="51260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w="38100" cap="rnd">
            <a:solidFill>
              <a:srgbClr val="0D4172"/>
            </a:solidFill>
            <a:prstDash val="solid"/>
            <a:round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2945513" y="6025604"/>
            <a:ext cx="6852473" cy="3925004"/>
          </a:xfrm>
          <a:custGeom>
            <a:avLst/>
            <a:gdLst/>
            <a:ahLst/>
            <a:cxnLst/>
            <a:rect r="r" b="b" t="t" l="l"/>
            <a:pathLst>
              <a:path h="3925004" w="6852473">
                <a:moveTo>
                  <a:pt x="0" y="0"/>
                </a:moveTo>
                <a:lnTo>
                  <a:pt x="6852474" y="0"/>
                </a:lnTo>
                <a:lnTo>
                  <a:pt x="6852474" y="3925004"/>
                </a:lnTo>
                <a:lnTo>
                  <a:pt x="0" y="39250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38100" cap="rnd">
            <a:solidFill>
              <a:srgbClr val="0D4172"/>
            </a:solidFill>
            <a:prstDash val="solid"/>
            <a:round/>
          </a:ln>
        </p:spPr>
      </p:sp>
      <p:sp>
        <p:nvSpPr>
          <p:cNvPr name="TextBox 6" id="6"/>
          <p:cNvSpPr txBox="true"/>
          <p:nvPr/>
        </p:nvSpPr>
        <p:spPr>
          <a:xfrm rot="0">
            <a:off x="2520411" y="2514856"/>
            <a:ext cx="7702678" cy="323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3"/>
              </a:lnSpc>
              <a:spcBef>
                <a:spcPct val="0"/>
              </a:spcBef>
            </a:pPr>
            <a:r>
              <a:rPr lang="en-US" b="true" sz="42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JavaScript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 un </a:t>
            </a:r>
            <a:r>
              <a:rPr lang="en-US" b="true" sz="42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lenguaje de programación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que s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 utiliza p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ara cr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ear co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tenido </a:t>
            </a:r>
            <a:r>
              <a:rPr lang="en-US" b="true" sz="42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interactivo y dinámico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en las páginas web.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74863" y="795345"/>
            <a:ext cx="9138275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22"/>
              </a:lnSpc>
            </a:pPr>
            <a:r>
              <a:rPr lang="en-US" b="true" sz="6435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¿Qué es JavaScript?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397466" y="3360380"/>
            <a:ext cx="6618019" cy="5666438"/>
          </a:xfrm>
          <a:custGeom>
            <a:avLst/>
            <a:gdLst/>
            <a:ahLst/>
            <a:cxnLst/>
            <a:rect r="r" b="b" t="t" l="l"/>
            <a:pathLst>
              <a:path h="5666438" w="6618019">
                <a:moveTo>
                  <a:pt x="0" y="0"/>
                </a:moveTo>
                <a:lnTo>
                  <a:pt x="6618019" y="0"/>
                </a:lnTo>
                <a:lnTo>
                  <a:pt x="6618019" y="5666437"/>
                </a:lnTo>
                <a:lnTo>
                  <a:pt x="0" y="56664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28432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41986" y="3602798"/>
            <a:ext cx="7955479" cy="518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3"/>
              </a:lnSpc>
            </a:pP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 una herramienta </a:t>
            </a:r>
            <a:r>
              <a:rPr lang="en-US" sz="426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integrada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en t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odos los </a:t>
            </a:r>
            <a:r>
              <a:rPr lang="en-US" sz="426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navegadores modernos.</a:t>
            </a:r>
          </a:p>
          <a:p>
            <a:pPr algn="l">
              <a:lnSpc>
                <a:spcPts val="5123"/>
              </a:lnSpc>
            </a:pPr>
          </a:p>
          <a:p>
            <a:pPr algn="l">
              <a:lnSpc>
                <a:spcPts val="5123"/>
              </a:lnSpc>
              <a:spcBef>
                <a:spcPct val="0"/>
              </a:spcBef>
            </a:pP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Nos avisa si hay un código mal escrito o si falta un archivo y </a:t>
            </a:r>
            <a:r>
              <a:rPr lang="en-US" b="true" sz="42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escribir código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de programación.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446979" y="1028700"/>
            <a:ext cx="11646843" cy="194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22"/>
              </a:lnSpc>
            </a:pPr>
            <a:r>
              <a:rPr lang="en-US" b="true" sz="6435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¿Qué es exactamente la consola?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396025" y="3280264"/>
            <a:ext cx="8244389" cy="5224882"/>
          </a:xfrm>
          <a:custGeom>
            <a:avLst/>
            <a:gdLst/>
            <a:ahLst/>
            <a:cxnLst/>
            <a:rect r="r" b="b" t="t" l="l"/>
            <a:pathLst>
              <a:path h="5224882" w="8244389">
                <a:moveTo>
                  <a:pt x="0" y="0"/>
                </a:moveTo>
                <a:lnTo>
                  <a:pt x="8244389" y="0"/>
                </a:lnTo>
                <a:lnTo>
                  <a:pt x="8244389" y="5224882"/>
                </a:lnTo>
                <a:lnTo>
                  <a:pt x="0" y="52248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198950" y="2978055"/>
            <a:ext cx="7197075" cy="518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3"/>
              </a:lnSpc>
            </a:pP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Precionamos </a:t>
            </a:r>
            <a:r>
              <a:rPr lang="en-US" sz="426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F12 o le damos click derecho al navegador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y luego a </a:t>
            </a:r>
            <a:r>
              <a:rPr lang="en-US" sz="426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inspeccionar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allí encontraremos la consola.</a:t>
            </a:r>
          </a:p>
          <a:p>
            <a:pPr algn="l">
              <a:lnSpc>
                <a:spcPts val="5123"/>
              </a:lnSpc>
            </a:pPr>
          </a:p>
          <a:p>
            <a:pPr algn="l">
              <a:lnSpc>
                <a:spcPts val="5123"/>
              </a:lnSpc>
            </a:pP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Prueba ejecutar:</a:t>
            </a:r>
          </a:p>
          <a:p>
            <a:pPr algn="l">
              <a:lnSpc>
                <a:spcPts val="5123"/>
              </a:lnSpc>
              <a:spcBef>
                <a:spcPct val="0"/>
              </a:spcBef>
            </a:pPr>
            <a:r>
              <a:rPr lang="en-US" b="true" sz="42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alert("hola mundo!");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320578" y="698113"/>
            <a:ext cx="11646843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22"/>
              </a:lnSpc>
            </a:pPr>
            <a:r>
              <a:rPr lang="en-US" b="true" sz="6435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¿Cómo se abre la consola?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9500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229851" y="1038225"/>
            <a:ext cx="11554806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¿Cómo se conecta JS con HTML?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516347" y="6085696"/>
            <a:ext cx="13197446" cy="2782783"/>
            <a:chOff x="0" y="0"/>
            <a:chExt cx="3475871" cy="7329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475870" cy="732914"/>
            </a:xfrm>
            <a:custGeom>
              <a:avLst/>
              <a:gdLst/>
              <a:ahLst/>
              <a:cxnLst/>
              <a:rect r="r" b="b" t="t" l="l"/>
              <a:pathLst>
                <a:path h="732914" w="3475870">
                  <a:moveTo>
                    <a:pt x="29918" y="0"/>
                  </a:moveTo>
                  <a:lnTo>
                    <a:pt x="3445952" y="0"/>
                  </a:lnTo>
                  <a:cubicBezTo>
                    <a:pt x="3453887" y="0"/>
                    <a:pt x="3461497" y="3152"/>
                    <a:pt x="3467108" y="8763"/>
                  </a:cubicBezTo>
                  <a:cubicBezTo>
                    <a:pt x="3472718" y="14373"/>
                    <a:pt x="3475870" y="21983"/>
                    <a:pt x="3475870" y="29918"/>
                  </a:cubicBezTo>
                  <a:lnTo>
                    <a:pt x="3475870" y="702996"/>
                  </a:lnTo>
                  <a:cubicBezTo>
                    <a:pt x="3475870" y="719519"/>
                    <a:pt x="3462476" y="732914"/>
                    <a:pt x="3445952" y="732914"/>
                  </a:cubicBezTo>
                  <a:lnTo>
                    <a:pt x="29918" y="732914"/>
                  </a:lnTo>
                  <a:cubicBezTo>
                    <a:pt x="13395" y="732914"/>
                    <a:pt x="0" y="719519"/>
                    <a:pt x="0" y="702996"/>
                  </a:cubicBezTo>
                  <a:lnTo>
                    <a:pt x="0" y="29918"/>
                  </a:lnTo>
                  <a:cubicBezTo>
                    <a:pt x="0" y="13395"/>
                    <a:pt x="13395" y="0"/>
                    <a:pt x="2991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3475871" cy="8091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997214" y="6380703"/>
            <a:ext cx="12412994" cy="2352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6"/>
              </a:lnSpc>
            </a:pPr>
            <a:r>
              <a:rPr lang="en-US" sz="34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Interno:</a:t>
            </a:r>
          </a:p>
          <a:p>
            <a:pPr algn="l">
              <a:lnSpc>
                <a:spcPts val="3706"/>
              </a:lnSpc>
            </a:pPr>
          </a:p>
          <a:p>
            <a:pPr algn="l" marL="0" indent="0" lvl="0">
              <a:lnSpc>
                <a:spcPts val="3706"/>
              </a:lnSpc>
            </a:pPr>
            <a:r>
              <a:rPr lang="en-US" sz="3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Escribe el código directamente dentro del documento HTML envolviéndolo con las etiquetas de apertura y cierre de &lt;script&gt;.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574207" y="2493269"/>
            <a:ext cx="13197446" cy="2782783"/>
            <a:chOff x="0" y="0"/>
            <a:chExt cx="3475871" cy="73291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75870" cy="732914"/>
            </a:xfrm>
            <a:custGeom>
              <a:avLst/>
              <a:gdLst/>
              <a:ahLst/>
              <a:cxnLst/>
              <a:rect r="r" b="b" t="t" l="l"/>
              <a:pathLst>
                <a:path h="732914" w="3475870">
                  <a:moveTo>
                    <a:pt x="29918" y="0"/>
                  </a:moveTo>
                  <a:lnTo>
                    <a:pt x="3445952" y="0"/>
                  </a:lnTo>
                  <a:cubicBezTo>
                    <a:pt x="3453887" y="0"/>
                    <a:pt x="3461497" y="3152"/>
                    <a:pt x="3467108" y="8763"/>
                  </a:cubicBezTo>
                  <a:cubicBezTo>
                    <a:pt x="3472718" y="14373"/>
                    <a:pt x="3475870" y="21983"/>
                    <a:pt x="3475870" y="29918"/>
                  </a:cubicBezTo>
                  <a:lnTo>
                    <a:pt x="3475870" y="702996"/>
                  </a:lnTo>
                  <a:cubicBezTo>
                    <a:pt x="3475870" y="719519"/>
                    <a:pt x="3462476" y="732914"/>
                    <a:pt x="3445952" y="732914"/>
                  </a:cubicBezTo>
                  <a:lnTo>
                    <a:pt x="29918" y="732914"/>
                  </a:lnTo>
                  <a:cubicBezTo>
                    <a:pt x="13395" y="732914"/>
                    <a:pt x="0" y="719519"/>
                    <a:pt x="0" y="702996"/>
                  </a:cubicBezTo>
                  <a:lnTo>
                    <a:pt x="0" y="29918"/>
                  </a:lnTo>
                  <a:cubicBezTo>
                    <a:pt x="0" y="13395"/>
                    <a:pt x="13395" y="0"/>
                    <a:pt x="2991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3475871" cy="8091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055074" y="2788276"/>
            <a:ext cx="12412994" cy="2352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6"/>
              </a:lnSpc>
            </a:pPr>
            <a:r>
              <a:rPr lang="en-US" sz="34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Externo (Recomendado):</a:t>
            </a:r>
          </a:p>
          <a:p>
            <a:pPr algn="l">
              <a:lnSpc>
                <a:spcPts val="3706"/>
              </a:lnSpc>
            </a:pPr>
          </a:p>
          <a:p>
            <a:pPr algn="l" marL="0" indent="0" lvl="0">
              <a:lnSpc>
                <a:spcPts val="3706"/>
              </a:lnSpc>
            </a:pPr>
            <a:r>
              <a:rPr lang="en-US" sz="3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Crea un archivo separado con la extensión .js (por ejemplo, </a:t>
            </a:r>
            <a:r>
              <a:rPr lang="en-US" sz="3400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script.js</a:t>
            </a:r>
            <a:r>
              <a:rPr lang="en-US" sz="3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o </a:t>
            </a:r>
            <a:r>
              <a:rPr lang="en-US" sz="3400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app.js</a:t>
            </a:r>
            <a:r>
              <a:rPr lang="en-US" sz="3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) y enlazarlo usando el atributo src dentro de la etiqueta &lt;script&gt;. 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4022047" y="7149225"/>
            <a:ext cx="4441016" cy="4441016"/>
          </a:xfrm>
          <a:custGeom>
            <a:avLst/>
            <a:gdLst/>
            <a:ahLst/>
            <a:cxnLst/>
            <a:rect r="r" b="b" t="t" l="l"/>
            <a:pathLst>
              <a:path h="4441016" w="4441016">
                <a:moveTo>
                  <a:pt x="0" y="0"/>
                </a:moveTo>
                <a:lnTo>
                  <a:pt x="4441016" y="0"/>
                </a:lnTo>
                <a:lnTo>
                  <a:pt x="4441016" y="4441016"/>
                </a:lnTo>
                <a:lnTo>
                  <a:pt x="0" y="44410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9500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229851" y="1038225"/>
            <a:ext cx="11554806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Fundamentos de JS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676955" y="1828012"/>
            <a:ext cx="10934089" cy="1402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0"/>
              </a:lnSpc>
            </a:pPr>
            <a:r>
              <a:rPr lang="en-US" sz="40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Conoce la estructura básica que </a:t>
            </a:r>
            <a:r>
              <a:rPr lang="en-US" sz="40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toda página web necesita para existir.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3234773" y="4083211"/>
            <a:ext cx="4571566" cy="4571566"/>
          </a:xfrm>
          <a:custGeom>
            <a:avLst/>
            <a:gdLst/>
            <a:ahLst/>
            <a:cxnLst/>
            <a:rect r="r" b="b" t="t" l="l"/>
            <a:pathLst>
              <a:path h="4571566" w="4571566">
                <a:moveTo>
                  <a:pt x="0" y="0"/>
                </a:moveTo>
                <a:lnTo>
                  <a:pt x="4571566" y="0"/>
                </a:lnTo>
                <a:lnTo>
                  <a:pt x="4571566" y="4571565"/>
                </a:lnTo>
                <a:lnTo>
                  <a:pt x="0" y="45715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w="38100" cap="sq">
            <a:solidFill>
              <a:srgbClr val="1F2937"/>
            </a:solidFill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true" flipV="false" rot="0">
            <a:off x="-1580422" y="5443220"/>
            <a:ext cx="6414372" cy="6423111"/>
          </a:xfrm>
          <a:custGeom>
            <a:avLst/>
            <a:gdLst/>
            <a:ahLst/>
            <a:cxnLst/>
            <a:rect r="r" b="b" t="t" l="l"/>
            <a:pathLst>
              <a:path h="6423111" w="6414372">
                <a:moveTo>
                  <a:pt x="6414373" y="0"/>
                </a:moveTo>
                <a:lnTo>
                  <a:pt x="0" y="0"/>
                </a:lnTo>
                <a:lnTo>
                  <a:pt x="0" y="6423112"/>
                </a:lnTo>
                <a:lnTo>
                  <a:pt x="6414373" y="6423112"/>
                </a:lnTo>
                <a:lnTo>
                  <a:pt x="6414373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007254" y="3397417"/>
            <a:ext cx="8909667" cy="5943153"/>
          </a:xfrm>
          <a:custGeom>
            <a:avLst/>
            <a:gdLst/>
            <a:ahLst/>
            <a:cxnLst/>
            <a:rect r="r" b="b" t="t" l="l"/>
            <a:pathLst>
              <a:path h="5943153" w="8909667">
                <a:moveTo>
                  <a:pt x="0" y="0"/>
                </a:moveTo>
                <a:lnTo>
                  <a:pt x="8909667" y="0"/>
                </a:lnTo>
                <a:lnTo>
                  <a:pt x="8909667" y="5943153"/>
                </a:lnTo>
                <a:lnTo>
                  <a:pt x="0" y="59431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38100" cap="sq">
            <a:solidFill>
              <a:srgbClr val="1F2937"/>
            </a:solidFill>
            <a:prstDash val="solid"/>
            <a:miter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467576" y="5850322"/>
            <a:ext cx="6782956" cy="3878019"/>
          </a:xfrm>
          <a:custGeom>
            <a:avLst/>
            <a:gdLst/>
            <a:ahLst/>
            <a:cxnLst/>
            <a:rect r="r" b="b" t="t" l="l"/>
            <a:pathLst>
              <a:path h="3878019" w="6782956">
                <a:moveTo>
                  <a:pt x="0" y="0"/>
                </a:moveTo>
                <a:lnTo>
                  <a:pt x="6782956" y="0"/>
                </a:lnTo>
                <a:lnTo>
                  <a:pt x="6782956" y="3878019"/>
                </a:lnTo>
                <a:lnTo>
                  <a:pt x="0" y="38780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174186" y="3839056"/>
            <a:ext cx="7333199" cy="3886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3"/>
              </a:lnSpc>
            </a:pP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Una </a:t>
            </a:r>
            <a:r>
              <a:rPr lang="en-US" sz="426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variable JS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es como una </a:t>
            </a:r>
            <a:r>
              <a:rPr lang="en-US" sz="426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caja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con un n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ombre donde </a:t>
            </a:r>
            <a:r>
              <a:rPr lang="en-US" sz="426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guardas un valor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que puede usarse  en otro momento.</a:t>
            </a:r>
          </a:p>
          <a:p>
            <a:pPr algn="l">
              <a:lnSpc>
                <a:spcPts val="5123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5586069" y="1028700"/>
            <a:ext cx="7115863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22"/>
              </a:lnSpc>
            </a:pPr>
            <a:r>
              <a:rPr lang="en-US" b="true" sz="6435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Variables JS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2253890" y="2571829"/>
            <a:ext cx="3210327" cy="3210327"/>
          </a:xfrm>
          <a:custGeom>
            <a:avLst/>
            <a:gdLst/>
            <a:ahLst/>
            <a:cxnLst/>
            <a:rect r="r" b="b" t="t" l="l"/>
            <a:pathLst>
              <a:path h="3210327" w="3210327">
                <a:moveTo>
                  <a:pt x="0" y="0"/>
                </a:moveTo>
                <a:lnTo>
                  <a:pt x="3210327" y="0"/>
                </a:lnTo>
                <a:lnTo>
                  <a:pt x="3210327" y="3210327"/>
                </a:lnTo>
                <a:lnTo>
                  <a:pt x="0" y="3210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w="38100" cap="sq">
            <a:solidFill>
              <a:srgbClr val="1F2937"/>
            </a:solidFill>
            <a:prstDash val="solid"/>
            <a:miter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3943797" y="5982988"/>
            <a:ext cx="10996888" cy="1446959"/>
          </a:xfrm>
          <a:custGeom>
            <a:avLst/>
            <a:gdLst/>
            <a:ahLst/>
            <a:cxnLst/>
            <a:rect r="r" b="b" t="t" l="l"/>
            <a:pathLst>
              <a:path h="1446959" w="10996888">
                <a:moveTo>
                  <a:pt x="0" y="0"/>
                </a:moveTo>
                <a:lnTo>
                  <a:pt x="10996888" y="0"/>
                </a:lnTo>
                <a:lnTo>
                  <a:pt x="10996888" y="1446959"/>
                </a:lnTo>
                <a:lnTo>
                  <a:pt x="0" y="14469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586069" y="1028700"/>
            <a:ext cx="7115863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22"/>
              </a:lnSpc>
            </a:pPr>
            <a:r>
              <a:rPr lang="en-US" b="true" sz="6435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Variables JS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943797" y="2633387"/>
            <a:ext cx="11708609" cy="2590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3"/>
              </a:lnSpc>
              <a:spcBef>
                <a:spcPct val="0"/>
              </a:spcBef>
            </a:pP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Para crear una 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variable en JS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usamos la p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labr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clave </a:t>
            </a:r>
            <a:r>
              <a:rPr lang="en-US" b="true" sz="42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</a:t>
            </a:r>
            <a:r>
              <a:rPr lang="en-US" b="true" sz="42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et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se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gu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id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el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true" sz="42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nombre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que tú quieras darle, el signo </a:t>
            </a:r>
            <a:r>
              <a:rPr lang="en-US" b="true" sz="42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= 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y el </a:t>
            </a:r>
            <a:r>
              <a:rPr lang="en-US" b="true" sz="42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valor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que quieres guardar.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4512219" y="5205137"/>
            <a:ext cx="9944182" cy="3795489"/>
          </a:xfrm>
          <a:custGeom>
            <a:avLst/>
            <a:gdLst/>
            <a:ahLst/>
            <a:cxnLst/>
            <a:rect r="r" b="b" t="t" l="l"/>
            <a:pathLst>
              <a:path h="3795489" w="9944182">
                <a:moveTo>
                  <a:pt x="0" y="0"/>
                </a:moveTo>
                <a:lnTo>
                  <a:pt x="9944181" y="0"/>
                </a:lnTo>
                <a:lnTo>
                  <a:pt x="9944181" y="3795489"/>
                </a:lnTo>
                <a:lnTo>
                  <a:pt x="0" y="37954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161925" cap="rnd">
            <a:solidFill>
              <a:srgbClr val="0D4172"/>
            </a:solidFill>
            <a:prstDash val="solid"/>
            <a:round/>
          </a:ln>
        </p:spPr>
      </p:sp>
      <p:sp>
        <p:nvSpPr>
          <p:cNvPr name="TextBox 5" id="5"/>
          <p:cNvSpPr txBox="true"/>
          <p:nvPr/>
        </p:nvSpPr>
        <p:spPr>
          <a:xfrm rot="0">
            <a:off x="5586069" y="1028700"/>
            <a:ext cx="7796482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22"/>
              </a:lnSpc>
            </a:pPr>
            <a:r>
              <a:rPr lang="en-US" b="true" sz="6435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Tipos de Datos JS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943797" y="2633387"/>
            <a:ext cx="11708609" cy="194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3"/>
              </a:lnSpc>
            </a:pP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Entre los tipos de datos tenemos...</a:t>
            </a:r>
          </a:p>
          <a:p>
            <a:pPr algn="l">
              <a:lnSpc>
                <a:spcPts val="5123"/>
              </a:lnSpc>
            </a:pPr>
          </a:p>
          <a:p>
            <a:pPr algn="l">
              <a:lnSpc>
                <a:spcPts val="5123"/>
              </a:lnSpc>
              <a:spcBef>
                <a:spcPct val="0"/>
              </a:spcBef>
            </a:pPr>
            <a:r>
              <a:rPr lang="en-US" b="true" sz="4269">
                <a:solidFill>
                  <a:srgbClr val="FF57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Strings</a:t>
            </a:r>
            <a:r>
              <a:rPr lang="en-US" b="true" sz="42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- </a:t>
            </a:r>
            <a:r>
              <a:rPr lang="en-US" b="true" sz="4269">
                <a:solidFill>
                  <a:srgbClr val="5E17E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Numbers</a:t>
            </a:r>
            <a:r>
              <a:rPr lang="en-US" b="true" sz="42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- </a:t>
            </a:r>
            <a:r>
              <a:rPr lang="en-US" b="true" sz="4269">
                <a:solidFill>
                  <a:srgbClr val="CB6C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Floats</a:t>
            </a:r>
            <a:r>
              <a:rPr lang="en-US" b="true" sz="42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- </a:t>
            </a:r>
            <a:r>
              <a:rPr lang="en-US" b="true" sz="4269">
                <a:solidFill>
                  <a:srgbClr val="FF75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Booleans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3741647" y="5205137"/>
            <a:ext cx="11396703" cy="3337606"/>
          </a:xfrm>
          <a:custGeom>
            <a:avLst/>
            <a:gdLst/>
            <a:ahLst/>
            <a:cxnLst/>
            <a:rect r="r" b="b" t="t" l="l"/>
            <a:pathLst>
              <a:path h="3337606" w="11396703">
                <a:moveTo>
                  <a:pt x="0" y="0"/>
                </a:moveTo>
                <a:lnTo>
                  <a:pt x="11396703" y="0"/>
                </a:lnTo>
                <a:lnTo>
                  <a:pt x="11396703" y="3337606"/>
                </a:lnTo>
                <a:lnTo>
                  <a:pt x="0" y="33376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rnd">
            <a:solidFill>
              <a:srgbClr val="0D4172"/>
            </a:solidFill>
            <a:prstDash val="solid"/>
            <a:round/>
          </a:ln>
        </p:spPr>
      </p:sp>
      <p:sp>
        <p:nvSpPr>
          <p:cNvPr name="TextBox 5" id="5"/>
          <p:cNvSpPr txBox="true"/>
          <p:nvPr/>
        </p:nvSpPr>
        <p:spPr>
          <a:xfrm rot="0">
            <a:off x="4423597" y="1033187"/>
            <a:ext cx="10032803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22"/>
              </a:lnSpc>
            </a:pPr>
            <a:r>
              <a:rPr lang="en-US" b="true" sz="6435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Operadores Básicos JS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943797" y="2633387"/>
            <a:ext cx="11708609" cy="194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3"/>
              </a:lnSpc>
            </a:pP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Entre los operadores básicos tenemos...</a:t>
            </a:r>
          </a:p>
          <a:p>
            <a:pPr algn="l">
              <a:lnSpc>
                <a:spcPts val="5123"/>
              </a:lnSpc>
            </a:pPr>
          </a:p>
          <a:p>
            <a:pPr algn="ctr">
              <a:lnSpc>
                <a:spcPts val="5123"/>
              </a:lnSpc>
              <a:spcBef>
                <a:spcPct val="0"/>
              </a:spcBef>
            </a:pP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 </a:t>
            </a:r>
            <a:r>
              <a:rPr lang="en-US" b="true" sz="42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+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)   ( </a:t>
            </a:r>
            <a:r>
              <a:rPr lang="en-US" b="true" sz="42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-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)   ( </a:t>
            </a:r>
            <a:r>
              <a:rPr lang="en-US" b="true" sz="42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* 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)   (</a:t>
            </a:r>
            <a:r>
              <a:rPr lang="en-US" b="true" sz="42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/ 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4221548" y="5795559"/>
            <a:ext cx="10436903" cy="3674966"/>
          </a:xfrm>
          <a:custGeom>
            <a:avLst/>
            <a:gdLst/>
            <a:ahLst/>
            <a:cxnLst/>
            <a:rect r="r" b="b" t="t" l="l"/>
            <a:pathLst>
              <a:path h="3674966" w="10436903">
                <a:moveTo>
                  <a:pt x="0" y="0"/>
                </a:moveTo>
                <a:lnTo>
                  <a:pt x="10436902" y="0"/>
                </a:lnTo>
                <a:lnTo>
                  <a:pt x="10436902" y="3674966"/>
                </a:lnTo>
                <a:lnTo>
                  <a:pt x="0" y="36749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rnd">
            <a:solidFill>
              <a:srgbClr val="0D4172"/>
            </a:solidFill>
            <a:prstDash val="solid"/>
            <a:round/>
          </a:ln>
        </p:spPr>
      </p:sp>
      <p:sp>
        <p:nvSpPr>
          <p:cNvPr name="TextBox 5" id="5"/>
          <p:cNvSpPr txBox="true"/>
          <p:nvPr/>
        </p:nvSpPr>
        <p:spPr>
          <a:xfrm rot="0">
            <a:off x="4423597" y="1033187"/>
            <a:ext cx="10032803" cy="194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22"/>
              </a:lnSpc>
            </a:pPr>
            <a:r>
              <a:rPr lang="en-US" b="true" sz="6435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Operadores de Comparación JS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555042" y="3414309"/>
            <a:ext cx="13769914" cy="194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3"/>
              </a:lnSpc>
            </a:pP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Entre los operadores de comparación tenemos...</a:t>
            </a:r>
          </a:p>
          <a:p>
            <a:pPr algn="l">
              <a:lnSpc>
                <a:spcPts val="5123"/>
              </a:lnSpc>
            </a:pPr>
          </a:p>
          <a:p>
            <a:pPr algn="ctr">
              <a:lnSpc>
                <a:spcPts val="5123"/>
              </a:lnSpc>
              <a:spcBef>
                <a:spcPct val="0"/>
              </a:spcBef>
            </a:pP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 </a:t>
            </a:r>
            <a:r>
              <a:rPr lang="en-US" b="true" sz="42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&lt;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)   ( </a:t>
            </a:r>
            <a:r>
              <a:rPr lang="en-US" b="true" sz="42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&gt;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)   ( </a:t>
            </a:r>
            <a:r>
              <a:rPr lang="en-US" b="true" sz="42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&lt;= 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)   (</a:t>
            </a:r>
            <a:r>
              <a:rPr lang="en-US" b="true" sz="42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&gt;= 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)  ( </a:t>
            </a:r>
            <a:r>
              <a:rPr lang="en-US" b="true" sz="42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===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)  ( </a:t>
            </a:r>
            <a:r>
              <a:rPr lang="en-US" b="true" sz="42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!==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)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3305252" y="6017577"/>
            <a:ext cx="12269494" cy="3642102"/>
          </a:xfrm>
          <a:custGeom>
            <a:avLst/>
            <a:gdLst/>
            <a:ahLst/>
            <a:cxnLst/>
            <a:rect r="r" b="b" t="t" l="l"/>
            <a:pathLst>
              <a:path h="3642102" w="12269494">
                <a:moveTo>
                  <a:pt x="0" y="0"/>
                </a:moveTo>
                <a:lnTo>
                  <a:pt x="12269494" y="0"/>
                </a:lnTo>
                <a:lnTo>
                  <a:pt x="12269494" y="3642102"/>
                </a:lnTo>
                <a:lnTo>
                  <a:pt x="0" y="36421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57150" cap="rnd">
            <a:solidFill>
              <a:srgbClr val="0D4172"/>
            </a:solidFill>
            <a:prstDash val="solid"/>
            <a:round/>
          </a:ln>
        </p:spPr>
      </p:sp>
      <p:sp>
        <p:nvSpPr>
          <p:cNvPr name="TextBox 5" id="5"/>
          <p:cNvSpPr txBox="true"/>
          <p:nvPr/>
        </p:nvSpPr>
        <p:spPr>
          <a:xfrm rot="0">
            <a:off x="4423597" y="722047"/>
            <a:ext cx="10032803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22"/>
              </a:lnSpc>
            </a:pPr>
            <a:r>
              <a:rPr lang="en-US" b="true" sz="6435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Condicionales JS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555042" y="2314691"/>
            <a:ext cx="13769914" cy="323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3"/>
              </a:lnSpc>
            </a:pP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Los condicionales son el cerebro de tu código. Le permiten a la computadora tomar decisiones según si una condición se cumple</a:t>
            </a:r>
          </a:p>
          <a:p>
            <a:pPr algn="l">
              <a:lnSpc>
                <a:spcPts val="5123"/>
              </a:lnSpc>
            </a:pPr>
          </a:p>
          <a:p>
            <a:pPr algn="ctr">
              <a:lnSpc>
                <a:spcPts val="5123"/>
              </a:lnSpc>
              <a:spcBef>
                <a:spcPct val="0"/>
              </a:spcBef>
            </a:pP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 </a:t>
            </a:r>
            <a:r>
              <a:rPr lang="en-US" b="true" sz="42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if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)   ( </a:t>
            </a:r>
            <a:r>
              <a:rPr lang="en-US" b="true" sz="42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else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)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3216244" y="4876916"/>
            <a:ext cx="12447509" cy="3889847"/>
          </a:xfrm>
          <a:custGeom>
            <a:avLst/>
            <a:gdLst/>
            <a:ahLst/>
            <a:cxnLst/>
            <a:rect r="r" b="b" t="t" l="l"/>
            <a:pathLst>
              <a:path h="3889847" w="12447509">
                <a:moveTo>
                  <a:pt x="0" y="0"/>
                </a:moveTo>
                <a:lnTo>
                  <a:pt x="12447510" y="0"/>
                </a:lnTo>
                <a:lnTo>
                  <a:pt x="12447510" y="3889847"/>
                </a:lnTo>
                <a:lnTo>
                  <a:pt x="0" y="38898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rnd">
            <a:solidFill>
              <a:srgbClr val="0D4172"/>
            </a:solidFill>
            <a:prstDash val="solid"/>
            <a:round/>
          </a:ln>
        </p:spPr>
      </p:sp>
      <p:sp>
        <p:nvSpPr>
          <p:cNvPr name="TextBox 5" id="5"/>
          <p:cNvSpPr txBox="true"/>
          <p:nvPr/>
        </p:nvSpPr>
        <p:spPr>
          <a:xfrm rot="0">
            <a:off x="4423597" y="722047"/>
            <a:ext cx="10032803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22"/>
              </a:lnSpc>
            </a:pPr>
            <a:r>
              <a:rPr lang="en-US" b="true" sz="6435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Condicionales JS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555042" y="2314691"/>
            <a:ext cx="13769914" cy="194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3"/>
              </a:lnSpc>
            </a:pP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¿Y si hay más de dos opciones?</a:t>
            </a:r>
          </a:p>
          <a:p>
            <a:pPr algn="ctr">
              <a:lnSpc>
                <a:spcPts val="5123"/>
              </a:lnSpc>
            </a:pPr>
          </a:p>
          <a:p>
            <a:pPr algn="ctr">
              <a:lnSpc>
                <a:spcPts val="5123"/>
              </a:lnSpc>
              <a:spcBef>
                <a:spcPct val="0"/>
              </a:spcBef>
            </a:pP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 </a:t>
            </a:r>
            <a:r>
              <a:rPr lang="en-US" b="true" sz="42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elif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)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034740" y="3345160"/>
            <a:ext cx="13403694" cy="505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Actividad IV</a:t>
            </a:r>
          </a:p>
          <a:p>
            <a:pPr algn="ctr">
              <a:lnSpc>
                <a:spcPts val="5759"/>
              </a:lnSpc>
            </a:pPr>
          </a:p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Vamos a practicar jugar con nuestra lógica de programación.</a:t>
            </a:r>
          </a:p>
          <a:p>
            <a:pPr algn="ctr">
              <a:lnSpc>
                <a:spcPts val="5759"/>
              </a:lnSpc>
            </a:pPr>
          </a:p>
          <a:p>
            <a:pPr algn="ctr">
              <a:lnSpc>
                <a:spcPts val="5759"/>
              </a:lnSpc>
            </a:pPr>
            <a:r>
              <a:rPr lang="en-US" b="true" sz="4800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Recuerda... A programar se aprende programando.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DAHYkjvZpn0</dc:identifier>
  <dcterms:modified xsi:type="dcterms:W3CDTF">2011-08-01T06:04:30Z</dcterms:modified>
  <cp:revision>1</cp:revision>
  <dc:title>Curso de Introducción al Desarrollo Web Módulo IV</dc:title>
</cp:coreProperties>
</file>