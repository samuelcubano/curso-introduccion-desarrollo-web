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 Bold" charset="1" panose="00000800000000000000"/>
      <p:regular r:id="rId27"/>
    </p:embeddedFont>
    <p:embeddedFont>
      <p:font typeface="Montserrat" charset="1" panose="00000500000000000000"/>
      <p:regular r:id="rId28"/>
    </p:embeddedFont>
    <p:embeddedFont>
      <p:font typeface="Bugaki" charset="1" panose="00000000000000000000"/>
      <p:regular r:id="rId29"/>
    </p:embeddedFont>
    <p:embeddedFont>
      <p:font typeface="DM Sans" charset="1" panose="00000000000000000000"/>
      <p:regular r:id="rId30"/>
    </p:embeddedFont>
    <p:embeddedFont>
      <p:font typeface="DM Sans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II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25821" y="3033869"/>
            <a:ext cx="5738563" cy="5738563"/>
          </a:xfrm>
          <a:custGeom>
            <a:avLst/>
            <a:gdLst/>
            <a:ahLst/>
            <a:cxnLst/>
            <a:rect r="r" b="b" t="t" l="l"/>
            <a:pathLst>
              <a:path h="5738563" w="5738563">
                <a:moveTo>
                  <a:pt x="0" y="0"/>
                </a:moveTo>
                <a:lnTo>
                  <a:pt x="5738563" y="0"/>
                </a:lnTo>
                <a:lnTo>
                  <a:pt x="5738563" y="5738563"/>
                </a:lnTo>
                <a:lnTo>
                  <a:pt x="0" y="573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591" y="1339840"/>
            <a:ext cx="12560818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Repaso del Módulo anterior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3045" y="4052102"/>
            <a:ext cx="8752776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Conceptos y Herramientas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Estructura y Sintaxis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Etiquetas Semánticas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82820" y="2994883"/>
            <a:ext cx="14360029" cy="6263417"/>
          </a:xfrm>
          <a:custGeom>
            <a:avLst/>
            <a:gdLst/>
            <a:ahLst/>
            <a:cxnLst/>
            <a:rect r="r" b="b" t="t" l="l"/>
            <a:pathLst>
              <a:path h="6263417" w="14360029">
                <a:moveTo>
                  <a:pt x="0" y="0"/>
                </a:moveTo>
                <a:lnTo>
                  <a:pt x="14360029" y="0"/>
                </a:lnTo>
                <a:lnTo>
                  <a:pt x="14360029" y="6263417"/>
                </a:lnTo>
                <a:lnTo>
                  <a:pt x="0" y="6263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&lt;form&gt;      &lt;label&gt;      &lt;input&gt;       &lt;button&gt;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23529" y="8150708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07896" y="4465171"/>
            <a:ext cx="7953522" cy="1933008"/>
          </a:xfrm>
          <a:custGeom>
            <a:avLst/>
            <a:gdLst/>
            <a:ahLst/>
            <a:cxnLst/>
            <a:rect r="r" b="b" t="t" l="l"/>
            <a:pathLst>
              <a:path h="1933008" w="7953522">
                <a:moveTo>
                  <a:pt x="0" y="0"/>
                </a:moveTo>
                <a:lnTo>
                  <a:pt x="7953522" y="0"/>
                </a:lnTo>
                <a:lnTo>
                  <a:pt x="7953522" y="1933008"/>
                </a:lnTo>
                <a:lnTo>
                  <a:pt x="0" y="1933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6495" y="2200275"/>
            <a:ext cx="7509982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&lt;form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Es la etiqueta principal que envuelve todo el formulario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&lt;label&gt;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El texto descriptivo que acompaña a cada campo de entrada.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&lt;input&gt;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Es el elemento interactivo donde el usuario escribe o selecciona.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&lt;button&gt;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- El botón final para procesar o enviar los datos.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23529" y="8150708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96495" y="2200275"/>
            <a:ext cx="15262805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La etiqueta </a:t>
            </a:r>
            <a:r>
              <a:rPr lang="en-US" sz="3600" b="true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&lt;input&gt;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contiene </a:t>
            </a:r>
            <a:r>
              <a:rPr lang="en-US" sz="3600" b="true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atributo type="..."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cambia por completo su comportamiento. Los tipos básicos más usados son: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e="text"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: Para texto normal (como nombre o apellido).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type="email"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: Para correos (el navegador valida automáticamente que tenga una "@").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type="password"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: Oculta los caracteres con puntitos o asteriscos.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type="number"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: Solo permite números.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type="date"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: Abre un calendario desplegable.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85289" y="1908170"/>
            <a:ext cx="14043928" cy="7954952"/>
          </a:xfrm>
          <a:custGeom>
            <a:avLst/>
            <a:gdLst/>
            <a:ahLst/>
            <a:cxnLst/>
            <a:rect r="r" b="b" t="t" l="l"/>
            <a:pathLst>
              <a:path h="7954952" w="14043928">
                <a:moveTo>
                  <a:pt x="0" y="0"/>
                </a:moveTo>
                <a:lnTo>
                  <a:pt x="14043929" y="0"/>
                </a:lnTo>
                <a:lnTo>
                  <a:pt x="14043929" y="7954953"/>
                </a:lnTo>
                <a:lnTo>
                  <a:pt x="0" y="795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7126" y="6570263"/>
            <a:ext cx="7596724" cy="2940838"/>
          </a:xfrm>
          <a:custGeom>
            <a:avLst/>
            <a:gdLst/>
            <a:ahLst/>
            <a:cxnLst/>
            <a:rect r="r" b="b" t="t" l="l"/>
            <a:pathLst>
              <a:path h="2940838" w="7596724">
                <a:moveTo>
                  <a:pt x="0" y="0"/>
                </a:moveTo>
                <a:lnTo>
                  <a:pt x="7596724" y="0"/>
                </a:lnTo>
                <a:lnTo>
                  <a:pt x="7596724" y="2940838"/>
                </a:lnTo>
                <a:lnTo>
                  <a:pt x="0" y="2940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2" t="0" r="-1182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18695" y="2198697"/>
            <a:ext cx="3280718" cy="3280718"/>
          </a:xfrm>
          <a:custGeom>
            <a:avLst/>
            <a:gdLst/>
            <a:ahLst/>
            <a:cxnLst/>
            <a:rect r="r" b="b" t="t" l="l"/>
            <a:pathLst>
              <a:path h="3280718" w="3280718">
                <a:moveTo>
                  <a:pt x="0" y="0"/>
                </a:moveTo>
                <a:lnTo>
                  <a:pt x="3280718" y="0"/>
                </a:lnTo>
                <a:lnTo>
                  <a:pt x="3280718" y="3280718"/>
                </a:lnTo>
                <a:lnTo>
                  <a:pt x="0" y="3280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6152" y="5678822"/>
            <a:ext cx="7410785" cy="4189379"/>
          </a:xfrm>
          <a:custGeom>
            <a:avLst/>
            <a:gdLst/>
            <a:ahLst/>
            <a:cxnLst/>
            <a:rect r="r" b="b" t="t" l="l"/>
            <a:pathLst>
              <a:path h="4189379" w="7410785">
                <a:moveTo>
                  <a:pt x="0" y="0"/>
                </a:moveTo>
                <a:lnTo>
                  <a:pt x="7410784" y="0"/>
                </a:lnTo>
                <a:lnTo>
                  <a:pt x="7410784" y="4189379"/>
                </a:lnTo>
                <a:lnTo>
                  <a:pt x="0" y="4189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617" t="-37947" r="-3889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115847" y="2625758"/>
            <a:ext cx="7955479" cy="71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CSS3 (Cascading Style Sheets)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el lenguaje que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usamos para diseñar y dar estilo a nuestro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(colores, fuentes, tamaños, márgenes).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Siguiendo la analogía de la casa, el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acabados y la decoración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86069" y="1028700"/>
            <a:ext cx="7115863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CSS?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567482" y="1999289"/>
            <a:ext cx="6691818" cy="8320864"/>
          </a:xfrm>
          <a:custGeom>
            <a:avLst/>
            <a:gdLst/>
            <a:ahLst/>
            <a:cxnLst/>
            <a:rect r="r" b="b" t="t" l="l"/>
            <a:pathLst>
              <a:path h="8320864" w="6691818">
                <a:moveTo>
                  <a:pt x="0" y="0"/>
                </a:moveTo>
                <a:lnTo>
                  <a:pt x="6691818" y="0"/>
                </a:lnTo>
                <a:lnTo>
                  <a:pt x="6691818" y="8320864"/>
                </a:lnTo>
                <a:lnTo>
                  <a:pt x="0" y="832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9168" y="2781300"/>
            <a:ext cx="8558314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Hacer que las páginas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vean atractivas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Crear diseños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nsivos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(adaptables a móviles).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eparar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el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diseño visual.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5872" y="1028700"/>
            <a:ext cx="1106345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¿Para qué sirve CSS?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6429" y="3407585"/>
            <a:ext cx="6838331" cy="3231255"/>
            <a:chOff x="0" y="0"/>
            <a:chExt cx="1801042" cy="8510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1042" cy="851030"/>
            </a:xfrm>
            <a:custGeom>
              <a:avLst/>
              <a:gdLst/>
              <a:ahLst/>
              <a:cxnLst/>
              <a:rect r="r" b="b" t="t" l="l"/>
              <a:pathLst>
                <a:path h="851030" w="1801042">
                  <a:moveTo>
                    <a:pt x="57739" y="0"/>
                  </a:moveTo>
                  <a:lnTo>
                    <a:pt x="1743303" y="0"/>
                  </a:lnTo>
                  <a:cubicBezTo>
                    <a:pt x="1775191" y="0"/>
                    <a:pt x="1801042" y="25851"/>
                    <a:pt x="1801042" y="57739"/>
                  </a:cubicBezTo>
                  <a:lnTo>
                    <a:pt x="1801042" y="793291"/>
                  </a:lnTo>
                  <a:cubicBezTo>
                    <a:pt x="1801042" y="825179"/>
                    <a:pt x="1775191" y="851030"/>
                    <a:pt x="1743303" y="851030"/>
                  </a:cubicBezTo>
                  <a:lnTo>
                    <a:pt x="57739" y="851030"/>
                  </a:lnTo>
                  <a:cubicBezTo>
                    <a:pt x="25851" y="851030"/>
                    <a:pt x="0" y="825179"/>
                    <a:pt x="0" y="793291"/>
                  </a:cubicBezTo>
                  <a:lnTo>
                    <a:pt x="0" y="57739"/>
                  </a:lnTo>
                  <a:cubicBezTo>
                    <a:pt x="0" y="25851"/>
                    <a:pt x="25851" y="0"/>
                    <a:pt x="5773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01042" cy="927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09179" y="3460394"/>
            <a:ext cx="6534821" cy="2764544"/>
            <a:chOff x="0" y="0"/>
            <a:chExt cx="1721105" cy="728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1105" cy="728110"/>
            </a:xfrm>
            <a:custGeom>
              <a:avLst/>
              <a:gdLst/>
              <a:ahLst/>
              <a:cxnLst/>
              <a:rect r="r" b="b" t="t" l="l"/>
              <a:pathLst>
                <a:path h="728110" w="1721105">
                  <a:moveTo>
                    <a:pt x="60421" y="0"/>
                  </a:moveTo>
                  <a:lnTo>
                    <a:pt x="1660684" y="0"/>
                  </a:lnTo>
                  <a:cubicBezTo>
                    <a:pt x="1676709" y="0"/>
                    <a:pt x="1692077" y="6366"/>
                    <a:pt x="1703408" y="17697"/>
                  </a:cubicBezTo>
                  <a:cubicBezTo>
                    <a:pt x="1714739" y="29028"/>
                    <a:pt x="1721105" y="44396"/>
                    <a:pt x="1721105" y="60421"/>
                  </a:cubicBezTo>
                  <a:lnTo>
                    <a:pt x="1721105" y="667690"/>
                  </a:lnTo>
                  <a:cubicBezTo>
                    <a:pt x="1721105" y="701059"/>
                    <a:pt x="1694054" y="728110"/>
                    <a:pt x="1660684" y="728110"/>
                  </a:cubicBezTo>
                  <a:lnTo>
                    <a:pt x="60421" y="728110"/>
                  </a:lnTo>
                  <a:cubicBezTo>
                    <a:pt x="27051" y="728110"/>
                    <a:pt x="0" y="701059"/>
                    <a:pt x="0" y="667690"/>
                  </a:cubicBezTo>
                  <a:lnTo>
                    <a:pt x="0" y="60421"/>
                  </a:lnTo>
                  <a:cubicBezTo>
                    <a:pt x="0" y="27051"/>
                    <a:pt x="27051" y="0"/>
                    <a:pt x="60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21105" cy="804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76948" y="3077048"/>
            <a:ext cx="1400981" cy="1430495"/>
            <a:chOff x="0" y="0"/>
            <a:chExt cx="7960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6030" cy="812800"/>
            </a:xfrm>
            <a:custGeom>
              <a:avLst/>
              <a:gdLst/>
              <a:ahLst/>
              <a:cxnLst/>
              <a:rect r="r" b="b" t="t" l="l"/>
              <a:pathLst>
                <a:path h="812800" w="796030">
                  <a:moveTo>
                    <a:pt x="398015" y="0"/>
                  </a:moveTo>
                  <a:cubicBezTo>
                    <a:pt x="178197" y="0"/>
                    <a:pt x="0" y="181951"/>
                    <a:pt x="0" y="406400"/>
                  </a:cubicBezTo>
                  <a:cubicBezTo>
                    <a:pt x="0" y="630849"/>
                    <a:pt x="178197" y="812800"/>
                    <a:pt x="398015" y="812800"/>
                  </a:cubicBezTo>
                  <a:cubicBezTo>
                    <a:pt x="617833" y="812800"/>
                    <a:pt x="796030" y="630849"/>
                    <a:pt x="796030" y="406400"/>
                  </a:cubicBezTo>
                  <a:cubicBezTo>
                    <a:pt x="796030" y="181951"/>
                    <a:pt x="617833" y="0"/>
                    <a:pt x="398015" y="0"/>
                  </a:cubicBezTo>
                  <a:close/>
                </a:path>
              </a:pathLst>
            </a:custGeom>
            <a:solidFill>
              <a:srgbClr val="FDC4F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4628" y="0"/>
              <a:ext cx="64677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17848" y="3077048"/>
            <a:ext cx="1430495" cy="143049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945448" y="7126935"/>
            <a:ext cx="2600099" cy="2600099"/>
          </a:xfrm>
          <a:custGeom>
            <a:avLst/>
            <a:gdLst/>
            <a:ahLst/>
            <a:cxnLst/>
            <a:rect r="r" b="b" t="t" l="l"/>
            <a:pathLst>
              <a:path h="2600099" w="2600099">
                <a:moveTo>
                  <a:pt x="0" y="0"/>
                </a:moveTo>
                <a:lnTo>
                  <a:pt x="2600098" y="0"/>
                </a:lnTo>
                <a:lnTo>
                  <a:pt x="2600098" y="2600099"/>
                </a:lnTo>
                <a:lnTo>
                  <a:pt x="0" y="2600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733614" y="3257449"/>
            <a:ext cx="1287649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84048" y="3257449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9421" y="2143905"/>
            <a:ext cx="14600267" cy="933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1"/>
              </a:lnSpc>
              <a:spcBef>
                <a:spcPct val="0"/>
              </a:spcBef>
            </a:pPr>
            <a:r>
              <a:rPr lang="en-US" sz="3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ist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tres f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mas pr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ncip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i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grar CSS 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tus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HTML, c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 con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v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taj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30665" y="3592414"/>
            <a:ext cx="6269929" cy="28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Inlin</a:t>
            </a: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e:</a:t>
            </a: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Estilos directos en la etiqueta con el atributo style (uso rápido, desaconsejado para mantenimiento).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93625" y="3592414"/>
            <a:ext cx="5965930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Inte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o:</a:t>
            </a:r>
          </a:p>
          <a:p>
            <a:pPr algn="l" marL="0" indent="0" lvl="0">
              <a:lnSpc>
                <a:spcPts val="3705"/>
              </a:lnSpc>
            </a:pPr>
          </a:p>
          <a:p>
            <a:pPr algn="l" marL="0" indent="0" lvl="0">
              <a:lnSpc>
                <a:spcPts val="3705"/>
              </a:lnSpc>
            </a:pP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Estilos dentro de una etiqueta &lt;style&gt;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el &lt;head&gt;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(i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deal para páginas únicas).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880210" y="6795034"/>
            <a:ext cx="6534821" cy="3231255"/>
            <a:chOff x="0" y="0"/>
            <a:chExt cx="1721105" cy="851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1105" cy="851030"/>
            </a:xfrm>
            <a:custGeom>
              <a:avLst/>
              <a:gdLst/>
              <a:ahLst/>
              <a:cxnLst/>
              <a:rect r="r" b="b" t="t" l="l"/>
              <a:pathLst>
                <a:path h="851030" w="1721105">
                  <a:moveTo>
                    <a:pt x="60421" y="0"/>
                  </a:moveTo>
                  <a:lnTo>
                    <a:pt x="1660684" y="0"/>
                  </a:lnTo>
                  <a:cubicBezTo>
                    <a:pt x="1676709" y="0"/>
                    <a:pt x="1692077" y="6366"/>
                    <a:pt x="1703408" y="17697"/>
                  </a:cubicBezTo>
                  <a:cubicBezTo>
                    <a:pt x="1714739" y="29028"/>
                    <a:pt x="1721105" y="44396"/>
                    <a:pt x="1721105" y="60421"/>
                  </a:cubicBezTo>
                  <a:lnTo>
                    <a:pt x="1721105" y="790609"/>
                  </a:lnTo>
                  <a:cubicBezTo>
                    <a:pt x="1721105" y="823979"/>
                    <a:pt x="1694054" y="851030"/>
                    <a:pt x="1660684" y="851030"/>
                  </a:cubicBezTo>
                  <a:lnTo>
                    <a:pt x="60421" y="851030"/>
                  </a:lnTo>
                  <a:cubicBezTo>
                    <a:pt x="27051" y="851030"/>
                    <a:pt x="0" y="823979"/>
                    <a:pt x="0" y="790609"/>
                  </a:cubicBezTo>
                  <a:lnTo>
                    <a:pt x="0" y="60421"/>
                  </a:lnTo>
                  <a:cubicBezTo>
                    <a:pt x="0" y="27051"/>
                    <a:pt x="27051" y="0"/>
                    <a:pt x="60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721105" cy="927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88879" y="6411688"/>
            <a:ext cx="1430495" cy="143049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C77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255079" y="6592089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64656" y="7026472"/>
            <a:ext cx="6250375" cy="28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Exte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o:</a:t>
            </a:r>
          </a:p>
          <a:p>
            <a:pPr algn="l" marL="0" indent="0" lvl="0">
              <a:lnSpc>
                <a:spcPts val="3705"/>
              </a:lnSpc>
            </a:pPr>
          </a:p>
          <a:p>
            <a:pPr algn="l" marL="0" indent="0" lvl="0">
              <a:lnSpc>
                <a:spcPts val="3705"/>
              </a:lnSpc>
            </a:pP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Estilos en un archivo .css separado y enlazado (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mejor práct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para proyectos grandes).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97920" y="973290"/>
            <a:ext cx="13377561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aplica CSS a HTML?</a:t>
            </a:r>
          </a:p>
        </p:txBody>
      </p:sp>
      <p:sp>
        <p:nvSpPr>
          <p:cNvPr name="Freeform 31" id="31"/>
          <p:cNvSpPr/>
          <p:nvPr/>
        </p:nvSpPr>
        <p:spPr>
          <a:xfrm flipH="true" flipV="false" rot="0">
            <a:off x="-977588" y="6605938"/>
            <a:ext cx="5345583" cy="5352866"/>
          </a:xfrm>
          <a:custGeom>
            <a:avLst/>
            <a:gdLst/>
            <a:ahLst/>
            <a:cxnLst/>
            <a:rect r="r" b="b" t="t" l="l"/>
            <a:pathLst>
              <a:path h="5352866" w="5345583">
                <a:moveTo>
                  <a:pt x="5345583" y="0"/>
                </a:moveTo>
                <a:lnTo>
                  <a:pt x="0" y="0"/>
                </a:lnTo>
                <a:lnTo>
                  <a:pt x="0" y="5352866"/>
                </a:lnTo>
                <a:lnTo>
                  <a:pt x="5345583" y="5352866"/>
                </a:lnTo>
                <a:lnTo>
                  <a:pt x="534558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38153" y="5143500"/>
            <a:ext cx="4231478" cy="4231478"/>
          </a:xfrm>
          <a:custGeom>
            <a:avLst/>
            <a:gdLst/>
            <a:ahLst/>
            <a:cxnLst/>
            <a:rect r="r" b="b" t="t" l="l"/>
            <a:pathLst>
              <a:path h="4231478" w="4231478">
                <a:moveTo>
                  <a:pt x="0" y="0"/>
                </a:moveTo>
                <a:lnTo>
                  <a:pt x="4231477" y="0"/>
                </a:lnTo>
                <a:lnTo>
                  <a:pt x="4231477" y="4231478"/>
                </a:lnTo>
                <a:lnTo>
                  <a:pt x="0" y="4231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94056" y="4220243"/>
            <a:ext cx="4737786" cy="5891145"/>
          </a:xfrm>
          <a:custGeom>
            <a:avLst/>
            <a:gdLst/>
            <a:ahLst/>
            <a:cxnLst/>
            <a:rect r="r" b="b" t="t" l="l"/>
            <a:pathLst>
              <a:path h="5891145" w="4737786">
                <a:moveTo>
                  <a:pt x="0" y="0"/>
                </a:moveTo>
                <a:lnTo>
                  <a:pt x="4737786" y="0"/>
                </a:lnTo>
                <a:lnTo>
                  <a:pt x="4737786" y="5891145"/>
                </a:lnTo>
                <a:lnTo>
                  <a:pt x="0" y="5891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80053" y="5509052"/>
            <a:ext cx="5514004" cy="2862687"/>
          </a:xfrm>
          <a:custGeom>
            <a:avLst/>
            <a:gdLst/>
            <a:ahLst/>
            <a:cxnLst/>
            <a:rect r="r" b="b" t="t" l="l"/>
            <a:pathLst>
              <a:path h="2862687" w="5514004">
                <a:moveTo>
                  <a:pt x="0" y="0"/>
                </a:moveTo>
                <a:lnTo>
                  <a:pt x="5514003" y="0"/>
                </a:lnTo>
                <a:lnTo>
                  <a:pt x="5514003" y="2862687"/>
                </a:lnTo>
                <a:lnTo>
                  <a:pt x="0" y="2862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17448" y="2202667"/>
            <a:ext cx="1225310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Conoce la regla fundamental que 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estilo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para func</a:t>
            </a:r>
            <a:r>
              <a:rPr lang="en-US" sz="4269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iona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3201" y="1028700"/>
            <a:ext cx="902159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CSS: Fundamentos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98342" y="2824112"/>
            <a:ext cx="3828097" cy="3828097"/>
          </a:xfrm>
          <a:custGeom>
            <a:avLst/>
            <a:gdLst/>
            <a:ahLst/>
            <a:cxnLst/>
            <a:rect r="r" b="b" t="t" l="l"/>
            <a:pathLst>
              <a:path h="3828097" w="3828097">
                <a:moveTo>
                  <a:pt x="0" y="0"/>
                </a:moveTo>
                <a:lnTo>
                  <a:pt x="3828097" y="0"/>
                </a:lnTo>
                <a:lnTo>
                  <a:pt x="3828097" y="3828097"/>
                </a:lnTo>
                <a:lnTo>
                  <a:pt x="0" y="382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5546" y="2898208"/>
            <a:ext cx="628486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Tomar en cuenta que cuando creamos un archivo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, su extensión es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.css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2308" y="6652209"/>
            <a:ext cx="4684219" cy="107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6"/>
              </a:lnSpc>
            </a:pPr>
            <a:r>
              <a:rPr lang="en-US" b="true" sz="7146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styles</a:t>
            </a:r>
            <a:r>
              <a:rPr lang="en-US" b="true" sz="7146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.css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552241" y="5357409"/>
            <a:ext cx="4231478" cy="4231478"/>
          </a:xfrm>
          <a:custGeom>
            <a:avLst/>
            <a:gdLst/>
            <a:ahLst/>
            <a:cxnLst/>
            <a:rect r="r" b="b" t="t" l="l"/>
            <a:pathLst>
              <a:path h="4231478" w="4231478">
                <a:moveTo>
                  <a:pt x="0" y="0"/>
                </a:moveTo>
                <a:lnTo>
                  <a:pt x="4231477" y="0"/>
                </a:lnTo>
                <a:lnTo>
                  <a:pt x="4231477" y="4231478"/>
                </a:lnTo>
                <a:lnTo>
                  <a:pt x="0" y="4231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16527" y="6652209"/>
            <a:ext cx="1182398" cy="1182398"/>
          </a:xfrm>
          <a:custGeom>
            <a:avLst/>
            <a:gdLst/>
            <a:ahLst/>
            <a:cxnLst/>
            <a:rect r="r" b="b" t="t" l="l"/>
            <a:pathLst>
              <a:path h="1182398" w="1182398">
                <a:moveTo>
                  <a:pt x="0" y="0"/>
                </a:moveTo>
                <a:lnTo>
                  <a:pt x="1182398" y="0"/>
                </a:lnTo>
                <a:lnTo>
                  <a:pt x="1182398" y="1182398"/>
                </a:lnTo>
                <a:lnTo>
                  <a:pt x="0" y="1182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00497" y="1982998"/>
            <a:ext cx="8132263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Cada regla CSS define cómo: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elector: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Define a qué elemento HTML se aplicará el estilo (ej. h1, .clase). 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Propiedad: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La característica visual que se desea modificar (ej. color, font-size, background-color).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Valor: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El ajuste específico para la propiedad (ej. blue, 16px)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65743" y="3269269"/>
            <a:ext cx="6140420" cy="370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2"/>
              </a:lnSpc>
            </a:pPr>
            <a:r>
              <a:rPr lang="en-US" sz="52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sel</a:t>
            </a:r>
            <a:r>
              <a:rPr lang="en-US" sz="52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ector {                  propiedad: </a:t>
            </a:r>
            <a:r>
              <a:rPr lang="en-US" sz="528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valor</a:t>
            </a:r>
            <a:r>
              <a:rPr lang="en-US" sz="52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    propiedad2: </a:t>
            </a:r>
            <a:r>
              <a:rPr lang="en-US" sz="528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valor2</a:t>
            </a:r>
            <a:r>
              <a:rPr lang="en-US" sz="52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 </a:t>
            </a:r>
          </a:p>
          <a:p>
            <a:pPr algn="l">
              <a:lnSpc>
                <a:spcPts val="7402"/>
              </a:lnSpc>
            </a:pPr>
            <a:r>
              <a:rPr lang="en-US" sz="52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 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4114" y="2291385"/>
            <a:ext cx="15471467" cy="13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sele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ctores son patrones utilizados para seleccionar y dar 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estilo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elementos específicos en tu documento 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HTML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413" y="4389925"/>
            <a:ext cx="5062781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Elemento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Af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ecta a todos los elementos de un tipo específico, como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&lt;p&gt;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párrafos 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&lt;h1&gt;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titulos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8619" y="4389925"/>
            <a:ext cx="5499687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Clase 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elecciona elementos que comparten un atributo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específico. Se define con un punto: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.mi-clase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7431" y="4389925"/>
            <a:ext cx="5261374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ID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Selecciona un único elemento con un atributo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específico. Se define con un numeral: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#mi-id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6429" y="3407585"/>
            <a:ext cx="6838331" cy="2686759"/>
            <a:chOff x="0" y="0"/>
            <a:chExt cx="1801042" cy="707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1042" cy="707624"/>
            </a:xfrm>
            <a:custGeom>
              <a:avLst/>
              <a:gdLst/>
              <a:ahLst/>
              <a:cxnLst/>
              <a:rect r="r" b="b" t="t" l="l"/>
              <a:pathLst>
                <a:path h="707624" w="1801042">
                  <a:moveTo>
                    <a:pt x="57739" y="0"/>
                  </a:moveTo>
                  <a:lnTo>
                    <a:pt x="1743303" y="0"/>
                  </a:lnTo>
                  <a:cubicBezTo>
                    <a:pt x="1775191" y="0"/>
                    <a:pt x="1801042" y="25851"/>
                    <a:pt x="1801042" y="57739"/>
                  </a:cubicBezTo>
                  <a:lnTo>
                    <a:pt x="1801042" y="649885"/>
                  </a:lnTo>
                  <a:cubicBezTo>
                    <a:pt x="1801042" y="681773"/>
                    <a:pt x="1775191" y="707624"/>
                    <a:pt x="1743303" y="707624"/>
                  </a:cubicBezTo>
                  <a:lnTo>
                    <a:pt x="57739" y="707624"/>
                  </a:lnTo>
                  <a:cubicBezTo>
                    <a:pt x="25851" y="707624"/>
                    <a:pt x="0" y="681773"/>
                    <a:pt x="0" y="649885"/>
                  </a:cubicBezTo>
                  <a:lnTo>
                    <a:pt x="0" y="57739"/>
                  </a:lnTo>
                  <a:cubicBezTo>
                    <a:pt x="0" y="25851"/>
                    <a:pt x="25851" y="0"/>
                    <a:pt x="5773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01042" cy="78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09179" y="3460394"/>
            <a:ext cx="6534821" cy="2633950"/>
            <a:chOff x="0" y="0"/>
            <a:chExt cx="1721105" cy="693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1105" cy="693715"/>
            </a:xfrm>
            <a:custGeom>
              <a:avLst/>
              <a:gdLst/>
              <a:ahLst/>
              <a:cxnLst/>
              <a:rect r="r" b="b" t="t" l="l"/>
              <a:pathLst>
                <a:path h="693715" w="1721105">
                  <a:moveTo>
                    <a:pt x="60421" y="0"/>
                  </a:moveTo>
                  <a:lnTo>
                    <a:pt x="1660684" y="0"/>
                  </a:lnTo>
                  <a:cubicBezTo>
                    <a:pt x="1676709" y="0"/>
                    <a:pt x="1692077" y="6366"/>
                    <a:pt x="1703408" y="17697"/>
                  </a:cubicBezTo>
                  <a:cubicBezTo>
                    <a:pt x="1714739" y="29028"/>
                    <a:pt x="1721105" y="44396"/>
                    <a:pt x="1721105" y="60421"/>
                  </a:cubicBezTo>
                  <a:lnTo>
                    <a:pt x="1721105" y="633294"/>
                  </a:lnTo>
                  <a:cubicBezTo>
                    <a:pt x="1721105" y="666664"/>
                    <a:pt x="1694054" y="693715"/>
                    <a:pt x="1660684" y="693715"/>
                  </a:cubicBezTo>
                  <a:lnTo>
                    <a:pt x="60421" y="693715"/>
                  </a:lnTo>
                  <a:cubicBezTo>
                    <a:pt x="27051" y="693715"/>
                    <a:pt x="0" y="666664"/>
                    <a:pt x="0" y="633294"/>
                  </a:cubicBezTo>
                  <a:lnTo>
                    <a:pt x="0" y="60421"/>
                  </a:lnTo>
                  <a:cubicBezTo>
                    <a:pt x="0" y="27051"/>
                    <a:pt x="27051" y="0"/>
                    <a:pt x="60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21105" cy="769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76948" y="3077048"/>
            <a:ext cx="1400981" cy="1430495"/>
            <a:chOff x="0" y="0"/>
            <a:chExt cx="7960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6030" cy="812800"/>
            </a:xfrm>
            <a:custGeom>
              <a:avLst/>
              <a:gdLst/>
              <a:ahLst/>
              <a:cxnLst/>
              <a:rect r="r" b="b" t="t" l="l"/>
              <a:pathLst>
                <a:path h="812800" w="796030">
                  <a:moveTo>
                    <a:pt x="398015" y="0"/>
                  </a:moveTo>
                  <a:cubicBezTo>
                    <a:pt x="178197" y="0"/>
                    <a:pt x="0" y="181951"/>
                    <a:pt x="0" y="406400"/>
                  </a:cubicBezTo>
                  <a:cubicBezTo>
                    <a:pt x="0" y="630849"/>
                    <a:pt x="178197" y="812800"/>
                    <a:pt x="398015" y="812800"/>
                  </a:cubicBezTo>
                  <a:cubicBezTo>
                    <a:pt x="617833" y="812800"/>
                    <a:pt x="796030" y="630849"/>
                    <a:pt x="796030" y="406400"/>
                  </a:cubicBezTo>
                  <a:cubicBezTo>
                    <a:pt x="796030" y="181951"/>
                    <a:pt x="617833" y="0"/>
                    <a:pt x="398015" y="0"/>
                  </a:cubicBezTo>
                  <a:close/>
                </a:path>
              </a:pathLst>
            </a:custGeom>
            <a:solidFill>
              <a:srgbClr val="FDC4F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4628" y="0"/>
              <a:ext cx="646774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17848" y="3077048"/>
            <a:ext cx="1430495" cy="143049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33614" y="3257449"/>
            <a:ext cx="1287649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84048" y="3257449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9421" y="2143905"/>
            <a:ext cx="14600267" cy="933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1"/>
              </a:lnSpc>
              <a:spcBef>
                <a:spcPct val="0"/>
              </a:spcBef>
            </a:pPr>
            <a:r>
              <a:rPr lang="en-US" sz="3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"caj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sib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 se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orden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de ad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hacia afuera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0665" y="3592414"/>
            <a:ext cx="6269929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r>
              <a:rPr lang="en-US" b="true" sz="3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Padding</a:t>
            </a: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(Rell</a:t>
            </a: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eno):</a:t>
            </a: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Espacio interno entre el contenido y el borde (para que "respire").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93625" y="3592414"/>
            <a:ext cx="5965930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r>
              <a:rPr lang="en-US" b="true" sz="3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</a:t>
            </a:r>
            <a:r>
              <a:rPr lang="en-US" b="true" sz="339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nt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(Contenido)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 marL="0" indent="0" lvl="0">
              <a:lnSpc>
                <a:spcPts val="3705"/>
              </a:lnSpc>
            </a:pPr>
          </a:p>
          <a:p>
            <a:pPr algn="l" marL="0" indent="0" lvl="0">
              <a:lnSpc>
                <a:spcPts val="3705"/>
              </a:lnSpc>
            </a:pP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 que e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á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dentro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o/im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a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justa con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ght</a:t>
            </a: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593602" y="6614490"/>
            <a:ext cx="6534821" cy="2326237"/>
            <a:chOff x="0" y="0"/>
            <a:chExt cx="1721105" cy="612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1105" cy="612672"/>
            </a:xfrm>
            <a:custGeom>
              <a:avLst/>
              <a:gdLst/>
              <a:ahLst/>
              <a:cxnLst/>
              <a:rect r="r" b="b" t="t" l="l"/>
              <a:pathLst>
                <a:path h="612672" w="1721105">
                  <a:moveTo>
                    <a:pt x="60421" y="0"/>
                  </a:moveTo>
                  <a:lnTo>
                    <a:pt x="1660684" y="0"/>
                  </a:lnTo>
                  <a:cubicBezTo>
                    <a:pt x="1676709" y="0"/>
                    <a:pt x="1692077" y="6366"/>
                    <a:pt x="1703408" y="17697"/>
                  </a:cubicBezTo>
                  <a:cubicBezTo>
                    <a:pt x="1714739" y="29028"/>
                    <a:pt x="1721105" y="44396"/>
                    <a:pt x="1721105" y="60421"/>
                  </a:cubicBezTo>
                  <a:lnTo>
                    <a:pt x="1721105" y="552251"/>
                  </a:lnTo>
                  <a:cubicBezTo>
                    <a:pt x="1721105" y="585620"/>
                    <a:pt x="1694054" y="612672"/>
                    <a:pt x="1660684" y="612672"/>
                  </a:cubicBezTo>
                  <a:lnTo>
                    <a:pt x="60421" y="612672"/>
                  </a:lnTo>
                  <a:cubicBezTo>
                    <a:pt x="27051" y="612672"/>
                    <a:pt x="0" y="585620"/>
                    <a:pt x="0" y="552251"/>
                  </a:cubicBezTo>
                  <a:lnTo>
                    <a:pt x="0" y="60421"/>
                  </a:lnTo>
                  <a:cubicBezTo>
                    <a:pt x="0" y="27051"/>
                    <a:pt x="27051" y="0"/>
                    <a:pt x="60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721105" cy="688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02271" y="6231144"/>
            <a:ext cx="1430495" cy="1430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C77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68470" y="6411545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78047" y="6845928"/>
            <a:ext cx="6250375" cy="188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r>
              <a:rPr lang="en-US" b="true" sz="3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Borde</a:t>
            </a:r>
            <a:r>
              <a:rPr lang="en-US" b="true" sz="339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(B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orde):</a:t>
            </a:r>
          </a:p>
          <a:p>
            <a:pPr algn="l" marL="0" indent="0" lvl="0">
              <a:lnSpc>
                <a:spcPts val="3705"/>
              </a:lnSpc>
            </a:pPr>
          </a:p>
          <a:p>
            <a:pPr algn="l" marL="0" indent="0" lvl="0">
              <a:lnSpc>
                <a:spcPts val="3705"/>
              </a:lnSpc>
            </a:pP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línea que envuelve a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ido y al relleno.</a:t>
            </a:r>
          </a:p>
        </p:txBody>
      </p:sp>
      <p:sp>
        <p:nvSpPr>
          <p:cNvPr name="Freeform 29" id="29"/>
          <p:cNvSpPr/>
          <p:nvPr/>
        </p:nvSpPr>
        <p:spPr>
          <a:xfrm flipH="true" flipV="false" rot="0">
            <a:off x="-1728371" y="6795034"/>
            <a:ext cx="5345583" cy="5352866"/>
          </a:xfrm>
          <a:custGeom>
            <a:avLst/>
            <a:gdLst/>
            <a:ahLst/>
            <a:cxnLst/>
            <a:rect r="r" b="b" t="t" l="l"/>
            <a:pathLst>
              <a:path h="5352866" w="5345583">
                <a:moveTo>
                  <a:pt x="5345583" y="0"/>
                </a:moveTo>
                <a:lnTo>
                  <a:pt x="0" y="0"/>
                </a:lnTo>
                <a:lnTo>
                  <a:pt x="0" y="5352865"/>
                </a:lnTo>
                <a:lnTo>
                  <a:pt x="5345583" y="5352865"/>
                </a:lnTo>
                <a:lnTo>
                  <a:pt x="534558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365773" y="6681786"/>
            <a:ext cx="6768987" cy="2258941"/>
            <a:chOff x="0" y="0"/>
            <a:chExt cx="1782779" cy="5949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2779" cy="594947"/>
            </a:xfrm>
            <a:custGeom>
              <a:avLst/>
              <a:gdLst/>
              <a:ahLst/>
              <a:cxnLst/>
              <a:rect r="r" b="b" t="t" l="l"/>
              <a:pathLst>
                <a:path h="594947" w="1782779">
                  <a:moveTo>
                    <a:pt x="58330" y="0"/>
                  </a:moveTo>
                  <a:lnTo>
                    <a:pt x="1724448" y="0"/>
                  </a:lnTo>
                  <a:cubicBezTo>
                    <a:pt x="1739918" y="0"/>
                    <a:pt x="1754755" y="6146"/>
                    <a:pt x="1765694" y="17085"/>
                  </a:cubicBezTo>
                  <a:cubicBezTo>
                    <a:pt x="1776633" y="28024"/>
                    <a:pt x="1782779" y="42860"/>
                    <a:pt x="1782779" y="58330"/>
                  </a:cubicBezTo>
                  <a:lnTo>
                    <a:pt x="1782779" y="536617"/>
                  </a:lnTo>
                  <a:cubicBezTo>
                    <a:pt x="1782779" y="552087"/>
                    <a:pt x="1776633" y="566924"/>
                    <a:pt x="1765694" y="577863"/>
                  </a:cubicBezTo>
                  <a:cubicBezTo>
                    <a:pt x="1754755" y="588802"/>
                    <a:pt x="1739918" y="594947"/>
                    <a:pt x="1724448" y="594947"/>
                  </a:cubicBezTo>
                  <a:lnTo>
                    <a:pt x="58330" y="594947"/>
                  </a:lnTo>
                  <a:cubicBezTo>
                    <a:pt x="26115" y="594947"/>
                    <a:pt x="0" y="568832"/>
                    <a:pt x="0" y="536617"/>
                  </a:cubicBezTo>
                  <a:lnTo>
                    <a:pt x="0" y="58330"/>
                  </a:lnTo>
                  <a:cubicBezTo>
                    <a:pt x="0" y="42860"/>
                    <a:pt x="6146" y="28024"/>
                    <a:pt x="17085" y="17085"/>
                  </a:cubicBezTo>
                  <a:cubicBezTo>
                    <a:pt x="28024" y="6146"/>
                    <a:pt x="42860" y="0"/>
                    <a:pt x="583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782779" cy="67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17776" y="6298440"/>
            <a:ext cx="1430495" cy="143049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F19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683975" y="6478841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60411" y="6913225"/>
            <a:ext cx="6474349" cy="188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r>
              <a:rPr lang="en-US" b="true" sz="3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b="true" sz="339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rgin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(Margen)</a:t>
            </a: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 marL="0" indent="0" lvl="0">
              <a:lnSpc>
                <a:spcPts val="3705"/>
              </a:lnSpc>
            </a:pPr>
          </a:p>
          <a:p>
            <a:pPr algn="l" marL="0" indent="0" lvl="0">
              <a:lnSpc>
                <a:spcPts val="3705"/>
              </a:lnSpc>
            </a:pPr>
            <a:r>
              <a:rPr lang="en-US" sz="33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Espacio externo que separa la caja de los demás elementos.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29851" y="1038225"/>
            <a:ext cx="1246878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 ( Box Model 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92337" y="2663156"/>
            <a:ext cx="12703326" cy="6595144"/>
          </a:xfrm>
          <a:custGeom>
            <a:avLst/>
            <a:gdLst/>
            <a:ahLst/>
            <a:cxnLst/>
            <a:rect r="r" b="b" t="t" l="l"/>
            <a:pathLst>
              <a:path h="6595144" w="12703326">
                <a:moveTo>
                  <a:pt x="0" y="0"/>
                </a:moveTo>
                <a:lnTo>
                  <a:pt x="12703326" y="0"/>
                </a:lnTo>
                <a:lnTo>
                  <a:pt x="12703326" y="6595144"/>
                </a:lnTo>
                <a:lnTo>
                  <a:pt x="0" y="659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9421" y="2143905"/>
            <a:ext cx="14600267" cy="4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1"/>
              </a:lnSpc>
              <a:spcBef>
                <a:spcPct val="0"/>
              </a:spcBef>
            </a:pPr>
            <a:r>
              <a:rPr lang="en-US" sz="3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Ejemplo: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246878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 ( Box Model 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2995" y="3984949"/>
            <a:ext cx="13764804" cy="4198813"/>
          </a:xfrm>
          <a:custGeom>
            <a:avLst/>
            <a:gdLst/>
            <a:ahLst/>
            <a:cxnLst/>
            <a:rect r="r" b="b" t="t" l="l"/>
            <a:pathLst>
              <a:path h="4198813" w="13764804">
                <a:moveTo>
                  <a:pt x="0" y="0"/>
                </a:moveTo>
                <a:lnTo>
                  <a:pt x="13764804" y="0"/>
                </a:lnTo>
                <a:lnTo>
                  <a:pt x="13764804" y="4198813"/>
                </a:lnTo>
                <a:lnTo>
                  <a:pt x="0" y="4198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762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3871" y="2327599"/>
            <a:ext cx="1404392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Usamos la etiqueta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&lt;link&gt;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para enlazar nuestro archivo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.css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a  nuestro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.html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63240" y="3442024"/>
            <a:ext cx="13065190" cy="5719784"/>
          </a:xfrm>
          <a:custGeom>
            <a:avLst/>
            <a:gdLst/>
            <a:ahLst/>
            <a:cxnLst/>
            <a:rect r="r" b="b" t="t" l="l"/>
            <a:pathLst>
              <a:path h="5719784" w="13065190">
                <a:moveTo>
                  <a:pt x="0" y="0"/>
                </a:moveTo>
                <a:lnTo>
                  <a:pt x="13065190" y="0"/>
                </a:lnTo>
                <a:lnTo>
                  <a:pt x="13065190" y="5719784"/>
                </a:lnTo>
                <a:lnTo>
                  <a:pt x="0" y="5719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Aca un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.html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de ejemplo para dar estilo: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35600" y="1946021"/>
            <a:ext cx="6336410" cy="7100107"/>
          </a:xfrm>
          <a:custGeom>
            <a:avLst/>
            <a:gdLst/>
            <a:ahLst/>
            <a:cxnLst/>
            <a:rect r="r" b="b" t="t" l="l"/>
            <a:pathLst>
              <a:path h="7100107" w="6336410">
                <a:moveTo>
                  <a:pt x="0" y="0"/>
                </a:moveTo>
                <a:lnTo>
                  <a:pt x="6336410" y="0"/>
                </a:lnTo>
                <a:lnTo>
                  <a:pt x="6336410" y="7100106"/>
                </a:lnTo>
                <a:lnTo>
                  <a:pt x="0" y="7100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87" t="0" r="-6783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058923" y="8189611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2328953"/>
            <a:ext cx="8035032" cy="760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color: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Cambia el color del texto.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background-color: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Cambia el color de fondo de la caja.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font-family: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Define la tipografía o fuente.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font-size: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Define el tamaño del texto.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text-align: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Alinea el texto (left, center, right).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35600" y="1946021"/>
            <a:ext cx="6336410" cy="7100107"/>
          </a:xfrm>
          <a:custGeom>
            <a:avLst/>
            <a:gdLst/>
            <a:ahLst/>
            <a:cxnLst/>
            <a:rect r="r" b="b" t="t" l="l"/>
            <a:pathLst>
              <a:path h="7100107" w="6336410">
                <a:moveTo>
                  <a:pt x="0" y="0"/>
                </a:moveTo>
                <a:lnTo>
                  <a:pt x="6336410" y="0"/>
                </a:lnTo>
                <a:lnTo>
                  <a:pt x="6336410" y="7100106"/>
                </a:lnTo>
                <a:lnTo>
                  <a:pt x="0" y="7100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87" t="0" r="-6783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058923" y="8189611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2328953"/>
            <a:ext cx="8035032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width / height: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Controlan el ancho y alto del contenido.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padding / margin: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Controlan el espacio interno y externo (Box Model).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border: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Define el grosor, estilo y color del borde.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90310" y="3967441"/>
            <a:ext cx="13403694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II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 un blog de algun interes que tengas, usando algunas propiedas de CSS para estilizar nuestro sitio web.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DAHXuT3TXR8</dc:identifier>
  <dcterms:modified xsi:type="dcterms:W3CDTF">2011-08-01T06:04:30Z</dcterms:modified>
  <cp:revision>1</cp:revision>
  <dc:title>Curso de Introducción al Desarrollo Web Módulo II</dc:title>
</cp:coreProperties>
</file>