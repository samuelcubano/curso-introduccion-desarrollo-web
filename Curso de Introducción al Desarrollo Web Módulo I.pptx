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Montserrat Bold" charset="1" panose="00000800000000000000"/>
      <p:regular r:id="rId39"/>
    </p:embeddedFont>
    <p:embeddedFont>
      <p:font typeface="Montserrat" charset="1" panose="00000500000000000000"/>
      <p:regular r:id="rId40"/>
    </p:embeddedFont>
    <p:embeddedFont>
      <p:font typeface="Montserrat Italics" charset="1" panose="000005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Relationship Id="rId4" Target="https://code.visualstudio.com" TargetMode="External" Type="http://schemas.openxmlformats.org/officeDocument/2006/relationships/hyperlink"/><Relationship Id="rId5" Target="https://code.visualstudio.com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0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1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2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3.png" Type="http://schemas.openxmlformats.org/officeDocument/2006/relationships/image"/><Relationship Id="rId4" Target="https://developer.mozilla.org/es/docs/Web/HTML/Reference/Elements/strong" TargetMode="External" Type="http://schemas.openxmlformats.org/officeDocument/2006/relationships/hyperlink"/><Relationship Id="rId5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4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5.png" Type="http://schemas.openxmlformats.org/officeDocument/2006/relationships/image"/><Relationship Id="rId4" Target="https://developer.mozilla.org/es/docs/Web/HTML/Reference/Elements/strong" TargetMode="External" Type="http://schemas.openxmlformats.org/officeDocument/2006/relationships/hyperlink"/><Relationship Id="rId5" Target="../media/image2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6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7.png" Type="http://schemas.openxmlformats.org/officeDocument/2006/relationships/image"/><Relationship Id="rId4" Target="https://developer.mozilla.org/es/docs/Web/HTML/Reference/Elements/strong" TargetMode="External" Type="http://schemas.openxmlformats.org/officeDocument/2006/relationships/hyperlink"/><Relationship Id="rId5" Target="../media/image2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8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9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9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0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1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53410" y="4945294"/>
            <a:ext cx="1340369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Módulo I</a:t>
            </a: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INTRODUCCIÓN AL DES</a:t>
            </a: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ARROLLO WEB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03906" y="2346740"/>
            <a:ext cx="14496800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2"/>
              </a:lnSpc>
              <a:spcBef>
                <a:spcPct val="0"/>
              </a:spcBef>
            </a:pP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la creación de sitios y apps para internet, combinando herramientas y lenguajes de programación del </a:t>
            </a:r>
            <a:r>
              <a:rPr lang="en-US" b="true" sz="46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front-end 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 el </a:t>
            </a:r>
            <a:r>
              <a:rPr lang="en-US" b="true" sz="46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>
              <a:lnSpc>
                <a:spcPts val="5602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144000" y="5288163"/>
            <a:ext cx="7136028" cy="4757352"/>
          </a:xfrm>
          <a:custGeom>
            <a:avLst/>
            <a:gdLst/>
            <a:ahLst/>
            <a:cxnLst/>
            <a:rect r="r" b="b" t="t" l="l"/>
            <a:pathLst>
              <a:path h="4757352" w="7136028">
                <a:moveTo>
                  <a:pt x="0" y="0"/>
                </a:moveTo>
                <a:lnTo>
                  <a:pt x="7136028" y="0"/>
                </a:lnTo>
                <a:lnTo>
                  <a:pt x="7136028" y="4757352"/>
                </a:lnTo>
                <a:lnTo>
                  <a:pt x="0" y="475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314B71"/>
            </a:solidFill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615019" y="5613061"/>
            <a:ext cx="7302322" cy="4107556"/>
          </a:xfrm>
          <a:custGeom>
            <a:avLst/>
            <a:gdLst/>
            <a:ahLst/>
            <a:cxnLst/>
            <a:rect r="r" b="b" t="t" l="l"/>
            <a:pathLst>
              <a:path h="4107556" w="7302322">
                <a:moveTo>
                  <a:pt x="0" y="0"/>
                </a:moveTo>
                <a:lnTo>
                  <a:pt x="7302322" y="0"/>
                </a:lnTo>
                <a:lnTo>
                  <a:pt x="7302322" y="4107556"/>
                </a:lnTo>
                <a:lnTo>
                  <a:pt x="0" y="410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314B71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3193964" y="1028700"/>
            <a:ext cx="11900073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el Desarrollo Web?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06426" y="1028700"/>
            <a:ext cx="919466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el Frontend?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5600" y="2135413"/>
            <a:ext cx="144968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2"/>
              </a:lnSpc>
              <a:spcBef>
                <a:spcPct val="0"/>
              </a:spcBef>
            </a:pP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la parte de una </a:t>
            </a:r>
            <a:r>
              <a:rPr lang="en-US" b="true" sz="46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página web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b="true" sz="46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aplicación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 ves e interactúa directamente en tu pantalla (botones, menús, colores, textos, imágenes).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141664" y="5312533"/>
            <a:ext cx="5549825" cy="3850361"/>
          </a:xfrm>
          <a:custGeom>
            <a:avLst/>
            <a:gdLst/>
            <a:ahLst/>
            <a:cxnLst/>
            <a:rect r="r" b="b" t="t" l="l"/>
            <a:pathLst>
              <a:path h="3850361" w="5549825">
                <a:moveTo>
                  <a:pt x="0" y="0"/>
                </a:moveTo>
                <a:lnTo>
                  <a:pt x="5549824" y="0"/>
                </a:lnTo>
                <a:lnTo>
                  <a:pt x="5549824" y="3850361"/>
                </a:lnTo>
                <a:lnTo>
                  <a:pt x="0" y="3850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322" r="0" b="-21815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704994" y="4831102"/>
            <a:ext cx="7219835" cy="4813224"/>
          </a:xfrm>
          <a:custGeom>
            <a:avLst/>
            <a:gdLst/>
            <a:ahLst/>
            <a:cxnLst/>
            <a:rect r="r" b="b" t="t" l="l"/>
            <a:pathLst>
              <a:path h="4813224" w="7219835">
                <a:moveTo>
                  <a:pt x="0" y="0"/>
                </a:moveTo>
                <a:lnTo>
                  <a:pt x="7219835" y="0"/>
                </a:lnTo>
                <a:lnTo>
                  <a:pt x="7219835" y="4813223"/>
                </a:lnTo>
                <a:lnTo>
                  <a:pt x="0" y="4813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54523" y="5143500"/>
            <a:ext cx="6888396" cy="4305248"/>
          </a:xfrm>
          <a:custGeom>
            <a:avLst/>
            <a:gdLst/>
            <a:ahLst/>
            <a:cxnLst/>
            <a:rect r="r" b="b" t="t" l="l"/>
            <a:pathLst>
              <a:path h="4305248" w="6888396">
                <a:moveTo>
                  <a:pt x="0" y="0"/>
                </a:moveTo>
                <a:lnTo>
                  <a:pt x="6888396" y="0"/>
                </a:lnTo>
                <a:lnTo>
                  <a:pt x="6888396" y="4305248"/>
                </a:lnTo>
                <a:lnTo>
                  <a:pt x="0" y="430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314B71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479043" y="4556993"/>
            <a:ext cx="4891754" cy="4891754"/>
          </a:xfrm>
          <a:custGeom>
            <a:avLst/>
            <a:gdLst/>
            <a:ahLst/>
            <a:cxnLst/>
            <a:rect r="r" b="b" t="t" l="l"/>
            <a:pathLst>
              <a:path h="4891754" w="4891754">
                <a:moveTo>
                  <a:pt x="0" y="0"/>
                </a:moveTo>
                <a:lnTo>
                  <a:pt x="4891754" y="0"/>
                </a:lnTo>
                <a:lnTo>
                  <a:pt x="4891754" y="4891755"/>
                </a:lnTo>
                <a:lnTo>
                  <a:pt x="0" y="48917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06426" y="1028700"/>
            <a:ext cx="919466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el Backend?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5600" y="2135413"/>
            <a:ext cx="144968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2"/>
              </a:lnSpc>
              <a:spcBef>
                <a:spcPct val="0"/>
              </a:spcBef>
            </a:pP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la parte oculta de una 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aplicación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web: el motor que procesa todo </a:t>
            </a:r>
            <a:r>
              <a:rPr lang="en-US" b="true" sz="46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46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detrás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que el usuario </a:t>
            </a:r>
            <a:r>
              <a:rPr lang="en-US" b="true" sz="46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ve directamente</a:t>
            </a:r>
            <a:r>
              <a:rPr lang="en-US" sz="46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32353" y="1962150"/>
            <a:ext cx="9812723" cy="4691316"/>
          </a:xfrm>
          <a:custGeom>
            <a:avLst/>
            <a:gdLst/>
            <a:ahLst/>
            <a:cxnLst/>
            <a:rect r="r" b="b" t="t" l="l"/>
            <a:pathLst>
              <a:path h="4691316" w="9812723">
                <a:moveTo>
                  <a:pt x="0" y="0"/>
                </a:moveTo>
                <a:lnTo>
                  <a:pt x="9812723" y="0"/>
                </a:lnTo>
                <a:lnTo>
                  <a:pt x="9812723" y="4691316"/>
                </a:lnTo>
                <a:lnTo>
                  <a:pt x="0" y="4691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91" r="0" b="-2291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378865" y="5226815"/>
            <a:ext cx="8347786" cy="4696737"/>
          </a:xfrm>
          <a:custGeom>
            <a:avLst/>
            <a:gdLst/>
            <a:ahLst/>
            <a:cxnLst/>
            <a:rect r="r" b="b" t="t" l="l"/>
            <a:pathLst>
              <a:path h="4696737" w="8347786">
                <a:moveTo>
                  <a:pt x="0" y="0"/>
                </a:moveTo>
                <a:lnTo>
                  <a:pt x="8347786" y="0"/>
                </a:lnTo>
                <a:lnTo>
                  <a:pt x="8347786" y="4696737"/>
                </a:lnTo>
                <a:lnTo>
                  <a:pt x="0" y="469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4157744" y="1028700"/>
            <a:ext cx="997251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VS Backend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15847" y="2625758"/>
            <a:ext cx="8752776" cy="64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(HyperText Markup Language) es el código estándar que 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usa para estructurar y dar contenido a una página web.</a:t>
            </a:r>
          </a:p>
          <a:p>
            <a:pPr algn="l">
              <a:lnSpc>
                <a:spcPts val="5123"/>
              </a:lnSpc>
            </a:pPr>
          </a:p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Siguiendo la analogía de la casa, el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 el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esqueleto y los cimientos.</a:t>
            </a:r>
          </a:p>
          <a:p>
            <a:pPr algn="l">
              <a:lnSpc>
                <a:spcPts val="5123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742498" y="2994976"/>
            <a:ext cx="5738563" cy="5738563"/>
          </a:xfrm>
          <a:custGeom>
            <a:avLst/>
            <a:gdLst/>
            <a:ahLst/>
            <a:cxnLst/>
            <a:rect r="r" b="b" t="t" l="l"/>
            <a:pathLst>
              <a:path h="5738563" w="5738563">
                <a:moveTo>
                  <a:pt x="0" y="0"/>
                </a:moveTo>
                <a:lnTo>
                  <a:pt x="5738564" y="0"/>
                </a:lnTo>
                <a:lnTo>
                  <a:pt x="5738564" y="5738564"/>
                </a:lnTo>
                <a:lnTo>
                  <a:pt x="0" y="57385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86069" y="1028700"/>
            <a:ext cx="7115863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HTML?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09168" y="2781300"/>
            <a:ext cx="8558314" cy="64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Crear la estructura base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una página web.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textos, imáge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nes, enlaces y formularios.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Permitir que los navegadores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entiendan el contenido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85872" y="1028700"/>
            <a:ext cx="11063455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¿PARA QUÉ SIRVE HTML?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370849" y="1764242"/>
            <a:ext cx="7616643" cy="8914451"/>
          </a:xfrm>
          <a:custGeom>
            <a:avLst/>
            <a:gdLst/>
            <a:ahLst/>
            <a:cxnLst/>
            <a:rect r="r" b="b" t="t" l="l"/>
            <a:pathLst>
              <a:path h="8914451" w="7616643">
                <a:moveTo>
                  <a:pt x="0" y="0"/>
                </a:moveTo>
                <a:lnTo>
                  <a:pt x="7616643" y="0"/>
                </a:lnTo>
                <a:lnTo>
                  <a:pt x="7616643" y="8914451"/>
                </a:lnTo>
                <a:lnTo>
                  <a:pt x="0" y="8914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645267" y="2997911"/>
            <a:ext cx="6870701" cy="5331765"/>
          </a:xfrm>
          <a:custGeom>
            <a:avLst/>
            <a:gdLst/>
            <a:ahLst/>
            <a:cxnLst/>
            <a:rect r="r" b="b" t="t" l="l"/>
            <a:pathLst>
              <a:path h="5331765" w="6870701">
                <a:moveTo>
                  <a:pt x="0" y="0"/>
                </a:moveTo>
                <a:lnTo>
                  <a:pt x="6870701" y="0"/>
                </a:lnTo>
                <a:lnTo>
                  <a:pt x="6870701" y="5331766"/>
                </a:lnTo>
                <a:lnTo>
                  <a:pt x="0" y="5331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78" t="0" r="-7078" b="0"/>
            </a:stretch>
          </a:blipFill>
          <a:ln w="66675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086954" y="3072994"/>
            <a:ext cx="8558314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 etiquetas para indicarle al navegador qué es cada eleme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nto en la pantalla: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título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&lt;h1&gt;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párrafo de texto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&lt;p&gt;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 imagen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&lt;img&gt;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enlace (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&lt;a&gt;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85872" y="1028700"/>
            <a:ext cx="11063455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funciona HTML?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76919" y="3829108"/>
            <a:ext cx="7807218" cy="4390570"/>
          </a:xfrm>
          <a:custGeom>
            <a:avLst/>
            <a:gdLst/>
            <a:ahLst/>
            <a:cxnLst/>
            <a:rect r="r" b="b" t="t" l="l"/>
            <a:pathLst>
              <a:path h="4390570" w="7807218">
                <a:moveTo>
                  <a:pt x="0" y="0"/>
                </a:moveTo>
                <a:lnTo>
                  <a:pt x="7807218" y="0"/>
                </a:lnTo>
                <a:lnTo>
                  <a:pt x="7807218" y="4390570"/>
                </a:lnTo>
                <a:lnTo>
                  <a:pt x="0" y="4390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379" r="0" b="-16983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223077" y="2749144"/>
            <a:ext cx="7566554" cy="64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un programa especia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lizado para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escribir y editar código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fuente de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rogramación (co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HTML, CSS, JavaScript, etc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.).</a:t>
            </a:r>
          </a:p>
          <a:p>
            <a:pPr algn="l">
              <a:lnSpc>
                <a:spcPts val="5123"/>
              </a:lnSpc>
            </a:pPr>
          </a:p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editor de código está diseñado específicamente para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programadores.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99715" y="1164824"/>
            <a:ext cx="12794173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un editor de Código?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26941" y="2795481"/>
            <a:ext cx="5823922" cy="5823922"/>
          </a:xfrm>
          <a:custGeom>
            <a:avLst/>
            <a:gdLst/>
            <a:ahLst/>
            <a:cxnLst/>
            <a:rect r="r" b="b" t="t" l="l"/>
            <a:pathLst>
              <a:path h="5823922" w="5823922">
                <a:moveTo>
                  <a:pt x="0" y="0"/>
                </a:moveTo>
                <a:lnTo>
                  <a:pt x="5823922" y="0"/>
                </a:lnTo>
                <a:lnTo>
                  <a:pt x="5823922" y="5823922"/>
                </a:lnTo>
                <a:lnTo>
                  <a:pt x="0" y="5823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36986" y="3116642"/>
            <a:ext cx="7566554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el transcurso de este curso, estaremos trabajando en el editor de codigo de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VS Code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5123"/>
              </a:lnSpc>
            </a:pPr>
          </a:p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 al sit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 w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eb 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fic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 para descargar el instalador: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4269" u="sng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4" tooltip="https://code.visualstudio.com"/>
              </a:rPr>
              <a:t>c</a:t>
            </a:r>
            <a:r>
              <a:rPr lang="en-US" b="true" sz="4269" u="sng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  <a:hlinkClick r:id="rId5" tooltip="https://code.visualstudio.com"/>
              </a:rPr>
              <a:t>ode.visualstudio.com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33201" y="1028700"/>
            <a:ext cx="902159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 Studio Code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512016" y="2745376"/>
            <a:ext cx="2962066" cy="2962066"/>
          </a:xfrm>
          <a:custGeom>
            <a:avLst/>
            <a:gdLst/>
            <a:ahLst/>
            <a:cxnLst/>
            <a:rect r="r" b="b" t="t" l="l"/>
            <a:pathLst>
              <a:path h="2962066" w="2962066">
                <a:moveTo>
                  <a:pt x="0" y="0"/>
                </a:moveTo>
                <a:lnTo>
                  <a:pt x="2962066" y="0"/>
                </a:lnTo>
                <a:lnTo>
                  <a:pt x="2962066" y="2962066"/>
                </a:lnTo>
                <a:lnTo>
                  <a:pt x="0" y="296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01114" y="5450338"/>
            <a:ext cx="4517860" cy="3388395"/>
          </a:xfrm>
          <a:custGeom>
            <a:avLst/>
            <a:gdLst/>
            <a:ahLst/>
            <a:cxnLst/>
            <a:rect r="r" b="b" t="t" l="l"/>
            <a:pathLst>
              <a:path h="3388395" w="4517860">
                <a:moveTo>
                  <a:pt x="0" y="0"/>
                </a:moveTo>
                <a:lnTo>
                  <a:pt x="4517860" y="0"/>
                </a:lnTo>
                <a:lnTo>
                  <a:pt x="4517860" y="3388395"/>
                </a:lnTo>
                <a:lnTo>
                  <a:pt x="0" y="3388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09636" y="2246767"/>
            <a:ext cx="3527374" cy="3527374"/>
          </a:xfrm>
          <a:custGeom>
            <a:avLst/>
            <a:gdLst/>
            <a:ahLst/>
            <a:cxnLst/>
            <a:rect r="r" b="b" t="t" l="l"/>
            <a:pathLst>
              <a:path h="3527374" w="3527374">
                <a:moveTo>
                  <a:pt x="0" y="0"/>
                </a:moveTo>
                <a:lnTo>
                  <a:pt x="3527374" y="0"/>
                </a:lnTo>
                <a:lnTo>
                  <a:pt x="3527374" y="3527374"/>
                </a:lnTo>
                <a:lnTo>
                  <a:pt x="0" y="3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17535" y="2745376"/>
            <a:ext cx="7566554" cy="64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Tambien puedes descargar algunas extensiones de VS Code como: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Live Server.</a:t>
            </a: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Prettier - Code formatter.</a:t>
            </a: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Spanish Language Pack for Visual Studio Code.   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 OPCIONAL 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33201" y="1028700"/>
            <a:ext cx="902159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 Studio Code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579927" y="5064758"/>
            <a:ext cx="4153693" cy="4153693"/>
          </a:xfrm>
          <a:custGeom>
            <a:avLst/>
            <a:gdLst/>
            <a:ahLst/>
            <a:cxnLst/>
            <a:rect r="r" b="b" t="t" l="l"/>
            <a:pathLst>
              <a:path h="4153693" w="4153693">
                <a:moveTo>
                  <a:pt x="0" y="0"/>
                </a:moveTo>
                <a:lnTo>
                  <a:pt x="4153693" y="0"/>
                </a:lnTo>
                <a:lnTo>
                  <a:pt x="4153693" y="4153692"/>
                </a:lnTo>
                <a:lnTo>
                  <a:pt x="0" y="4153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33620" y="4075931"/>
            <a:ext cx="5206869" cy="5542364"/>
          </a:xfrm>
          <a:custGeom>
            <a:avLst/>
            <a:gdLst/>
            <a:ahLst/>
            <a:cxnLst/>
            <a:rect r="r" b="b" t="t" l="l"/>
            <a:pathLst>
              <a:path h="5542364" w="5206869">
                <a:moveTo>
                  <a:pt x="0" y="0"/>
                </a:moveTo>
                <a:lnTo>
                  <a:pt x="5206869" y="0"/>
                </a:lnTo>
                <a:lnTo>
                  <a:pt x="5206869" y="5542363"/>
                </a:lnTo>
                <a:lnTo>
                  <a:pt x="0" y="5542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72988" y="3929145"/>
            <a:ext cx="4986312" cy="5835935"/>
          </a:xfrm>
          <a:custGeom>
            <a:avLst/>
            <a:gdLst/>
            <a:ahLst/>
            <a:cxnLst/>
            <a:rect r="r" b="b" t="t" l="l"/>
            <a:pathLst>
              <a:path h="5835935" w="4986312">
                <a:moveTo>
                  <a:pt x="0" y="0"/>
                </a:moveTo>
                <a:lnTo>
                  <a:pt x="4986312" y="0"/>
                </a:lnTo>
                <a:lnTo>
                  <a:pt x="4986312" y="5835935"/>
                </a:lnTo>
                <a:lnTo>
                  <a:pt x="0" y="58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17448" y="2202667"/>
            <a:ext cx="1225310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Conoce la estructura básica que 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od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página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w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eb ne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para exist</a:t>
            </a:r>
            <a:r>
              <a:rPr lang="en-US" sz="4269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4269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33201" y="1028700"/>
            <a:ext cx="902159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2"/>
              </a:lnSpc>
            </a:pPr>
            <a:r>
              <a:rPr lang="en-US" b="true" sz="61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HTML: Fundamentos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591133" y="5654815"/>
            <a:ext cx="4153693" cy="4153693"/>
          </a:xfrm>
          <a:custGeom>
            <a:avLst/>
            <a:gdLst/>
            <a:ahLst/>
            <a:cxnLst/>
            <a:rect r="r" b="b" t="t" l="l"/>
            <a:pathLst>
              <a:path h="4153693" w="4153693">
                <a:moveTo>
                  <a:pt x="0" y="0"/>
                </a:moveTo>
                <a:lnTo>
                  <a:pt x="4153693" y="0"/>
                </a:lnTo>
                <a:lnTo>
                  <a:pt x="4153693" y="4153693"/>
                </a:lnTo>
                <a:lnTo>
                  <a:pt x="0" y="4153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84433" y="2846290"/>
            <a:ext cx="3828097" cy="3828097"/>
          </a:xfrm>
          <a:custGeom>
            <a:avLst/>
            <a:gdLst/>
            <a:ahLst/>
            <a:cxnLst/>
            <a:rect r="r" b="b" t="t" l="l"/>
            <a:pathLst>
              <a:path h="3828097" w="3828097">
                <a:moveTo>
                  <a:pt x="0" y="0"/>
                </a:moveTo>
                <a:lnTo>
                  <a:pt x="3828097" y="0"/>
                </a:lnTo>
                <a:lnTo>
                  <a:pt x="3828097" y="3828097"/>
                </a:lnTo>
                <a:lnTo>
                  <a:pt x="0" y="3828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25546" y="2898208"/>
            <a:ext cx="6284867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Tomar en cuenta que cuando creamos un archivo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, su extensión es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.html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32243" y="6652209"/>
            <a:ext cx="5384284" cy="107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6"/>
              </a:lnSpc>
            </a:pPr>
            <a:r>
              <a:rPr lang="en-US" b="true" sz="7146">
                <a:solidFill>
                  <a:srgbClr val="52AA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index.html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784597" y="6429258"/>
            <a:ext cx="1302403" cy="1302403"/>
          </a:xfrm>
          <a:custGeom>
            <a:avLst/>
            <a:gdLst/>
            <a:ahLst/>
            <a:cxnLst/>
            <a:rect r="r" b="b" t="t" l="l"/>
            <a:pathLst>
              <a:path h="1302403" w="1302403">
                <a:moveTo>
                  <a:pt x="0" y="0"/>
                </a:moveTo>
                <a:lnTo>
                  <a:pt x="1302404" y="0"/>
                </a:lnTo>
                <a:lnTo>
                  <a:pt x="1302404" y="1302404"/>
                </a:lnTo>
                <a:lnTo>
                  <a:pt x="0" y="13024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14387" y="5264508"/>
            <a:ext cx="7069787" cy="1106157"/>
          </a:xfrm>
          <a:custGeom>
            <a:avLst/>
            <a:gdLst/>
            <a:ahLst/>
            <a:cxnLst/>
            <a:rect r="r" b="b" t="t" l="l"/>
            <a:pathLst>
              <a:path h="1106157" w="7069787">
                <a:moveTo>
                  <a:pt x="0" y="0"/>
                </a:moveTo>
                <a:lnTo>
                  <a:pt x="7069787" y="0"/>
                </a:lnTo>
                <a:lnTo>
                  <a:pt x="7069787" y="1106157"/>
                </a:lnTo>
                <a:lnTo>
                  <a:pt x="0" y="1106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000497" y="1982998"/>
            <a:ext cx="8132263" cy="760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Casi todas las etiquetas en </a:t>
            </a:r>
            <a:r>
              <a:rPr lang="en-US" sz="3600" b="true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HTML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funcionan en parejas: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etiqueta de apertura: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Es la que enciende la regla o el formato. Se escribe usando los signos menor y mayor que, por ejemplo: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&lt;h1&gt;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etiqueta de cierre: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Es la que apaga la regla. Se escribe igual, pero llevando una barra diagonal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 / )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justo después del primer signo: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&lt;/h1&gt;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91652" y="4332826"/>
            <a:ext cx="45152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52AA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&lt;p&gt;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MENSAJE </a:t>
            </a:r>
            <a:r>
              <a:rPr lang="en-US" b="true" sz="3600">
                <a:solidFill>
                  <a:srgbClr val="52AA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&lt;/p&gt;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00497" y="3713716"/>
            <a:ext cx="8793436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identación "uso del tabulado"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Es el espacio en blanco que se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de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ja al margen izquierdo del código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(generalmente usando la tecla Tab)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para organizar visualmente qué elementos están adentro de o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tr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104244" y="3369737"/>
            <a:ext cx="6516861" cy="4698912"/>
          </a:xfrm>
          <a:custGeom>
            <a:avLst/>
            <a:gdLst/>
            <a:ahLst/>
            <a:cxnLst/>
            <a:rect r="r" b="b" t="t" l="l"/>
            <a:pathLst>
              <a:path h="4698912" w="6516861">
                <a:moveTo>
                  <a:pt x="0" y="0"/>
                </a:moveTo>
                <a:lnTo>
                  <a:pt x="6516861" y="0"/>
                </a:lnTo>
                <a:lnTo>
                  <a:pt x="6516861" y="4698912"/>
                </a:lnTo>
                <a:lnTo>
                  <a:pt x="0" y="4698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78" t="0" r="-13506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857360" y="2955311"/>
            <a:ext cx="3044957" cy="1859327"/>
          </a:xfrm>
          <a:custGeom>
            <a:avLst/>
            <a:gdLst/>
            <a:ahLst/>
            <a:cxnLst/>
            <a:rect r="r" b="b" t="t" l="l"/>
            <a:pathLst>
              <a:path h="1859327" w="3044957">
                <a:moveTo>
                  <a:pt x="0" y="0"/>
                </a:moveTo>
                <a:lnTo>
                  <a:pt x="3044957" y="0"/>
                </a:lnTo>
                <a:lnTo>
                  <a:pt x="3044957" y="1859327"/>
                </a:lnTo>
                <a:lnTo>
                  <a:pt x="0" y="1859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42223" y="2955311"/>
            <a:ext cx="7043272" cy="54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Analogía: Cajas o Familias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Las etiquetas que contienen a otras son los "padres" (o la caja grande).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Las etiquetas que están adentro son los "hijos" (o la caja pequeña).</a:t>
            </a: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57360" y="6473522"/>
            <a:ext cx="3044957" cy="1859327"/>
          </a:xfrm>
          <a:custGeom>
            <a:avLst/>
            <a:gdLst/>
            <a:ahLst/>
            <a:cxnLst/>
            <a:rect r="r" b="b" t="t" l="l"/>
            <a:pathLst>
              <a:path h="1859327" w="3044957">
                <a:moveTo>
                  <a:pt x="0" y="0"/>
                </a:moveTo>
                <a:lnTo>
                  <a:pt x="3044957" y="0"/>
                </a:lnTo>
                <a:lnTo>
                  <a:pt x="3044957" y="1859327"/>
                </a:lnTo>
                <a:lnTo>
                  <a:pt x="0" y="1859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03269" y="4978684"/>
            <a:ext cx="3044957" cy="1859327"/>
          </a:xfrm>
          <a:custGeom>
            <a:avLst/>
            <a:gdLst/>
            <a:ahLst/>
            <a:cxnLst/>
            <a:rect r="r" b="b" t="t" l="l"/>
            <a:pathLst>
              <a:path h="1859327" w="3044957">
                <a:moveTo>
                  <a:pt x="0" y="0"/>
                </a:moveTo>
                <a:lnTo>
                  <a:pt x="3044956" y="0"/>
                </a:lnTo>
                <a:lnTo>
                  <a:pt x="3044956" y="1859327"/>
                </a:lnTo>
                <a:lnTo>
                  <a:pt x="0" y="1859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483449" y="2082493"/>
            <a:ext cx="179277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52AA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Padres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62712" y="4140627"/>
            <a:ext cx="13260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52AA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Hijos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12379838" y="4814638"/>
            <a:ext cx="0" cy="1658884"/>
          </a:xfrm>
          <a:prstGeom prst="line">
            <a:avLst/>
          </a:prstGeom>
          <a:ln cap="flat" w="123825">
            <a:solidFill>
              <a:srgbClr val="52AA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1483449" y="8535484"/>
            <a:ext cx="179277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52AA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Padres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785912" y="2333002"/>
            <a:ext cx="7975077" cy="2681227"/>
          </a:xfrm>
          <a:custGeom>
            <a:avLst/>
            <a:gdLst/>
            <a:ahLst/>
            <a:cxnLst/>
            <a:rect r="r" b="b" t="t" l="l"/>
            <a:pathLst>
              <a:path h="2681227" w="7975077">
                <a:moveTo>
                  <a:pt x="0" y="0"/>
                </a:moveTo>
                <a:lnTo>
                  <a:pt x="7975077" y="0"/>
                </a:lnTo>
                <a:lnTo>
                  <a:pt x="7975077" y="2681227"/>
                </a:lnTo>
                <a:lnTo>
                  <a:pt x="0" y="268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827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785912" y="6433615"/>
            <a:ext cx="7975077" cy="2476732"/>
          </a:xfrm>
          <a:custGeom>
            <a:avLst/>
            <a:gdLst/>
            <a:ahLst/>
            <a:cxnLst/>
            <a:rect r="r" b="b" t="t" l="l"/>
            <a:pathLst>
              <a:path h="2476732" w="7975077">
                <a:moveTo>
                  <a:pt x="0" y="0"/>
                </a:moveTo>
                <a:lnTo>
                  <a:pt x="7975077" y="0"/>
                </a:lnTo>
                <a:lnTo>
                  <a:pt x="7975077" y="2476732"/>
                </a:lnTo>
                <a:lnTo>
                  <a:pt x="0" y="247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850270" y="3130690"/>
            <a:ext cx="476805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❌ Sin indentación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(Difícil de leer):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0270" y="6915147"/>
            <a:ext cx="515698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 Con indentación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(Ordenado y claro):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44000" y="2762084"/>
            <a:ext cx="8332004" cy="5458899"/>
          </a:xfrm>
          <a:custGeom>
            <a:avLst/>
            <a:gdLst/>
            <a:ahLst/>
            <a:cxnLst/>
            <a:rect r="r" b="b" t="t" l="l"/>
            <a:pathLst>
              <a:path h="5458899" w="8332004">
                <a:moveTo>
                  <a:pt x="0" y="0"/>
                </a:moveTo>
                <a:lnTo>
                  <a:pt x="8332004" y="0"/>
                </a:lnTo>
                <a:lnTo>
                  <a:pt x="8332004" y="5458899"/>
                </a:lnTo>
                <a:lnTo>
                  <a:pt x="0" y="5458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9851" y="2762084"/>
            <a:ext cx="6440437" cy="597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&lt;!DOCTYPE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html&gt;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declara que es HTML5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&lt;html&gt;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Contenedor principal de la página 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&lt;head&gt;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Información y metadatos de la página 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&lt;body&gt;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Todo el contenido visible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20020" y="8220983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4"/>
                </a:lnTo>
                <a:lnTo>
                  <a:pt x="0" y="343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43694" y="3737672"/>
            <a:ext cx="16196628" cy="5516755"/>
          </a:xfrm>
          <a:custGeom>
            <a:avLst/>
            <a:gdLst/>
            <a:ahLst/>
            <a:cxnLst/>
            <a:rect r="r" b="b" t="t" l="l"/>
            <a:pathLst>
              <a:path h="5516755" w="16196628">
                <a:moveTo>
                  <a:pt x="0" y="0"/>
                </a:moveTo>
                <a:lnTo>
                  <a:pt x="16196628" y="0"/>
                </a:lnTo>
                <a:lnTo>
                  <a:pt x="16196628" y="5516756"/>
                </a:lnTo>
                <a:lnTo>
                  <a:pt x="0" y="5516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9851" y="2204147"/>
            <a:ext cx="1404392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Usa el atajo "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!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" y presiona la tecla "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enter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" para tener esta estructura inicial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630604" y="6344581"/>
            <a:ext cx="6151924" cy="6160305"/>
          </a:xfrm>
          <a:custGeom>
            <a:avLst/>
            <a:gdLst/>
            <a:ahLst/>
            <a:cxnLst/>
            <a:rect r="r" b="b" t="t" l="l"/>
            <a:pathLst>
              <a:path h="6160305" w="6151924">
                <a:moveTo>
                  <a:pt x="0" y="0"/>
                </a:moveTo>
                <a:lnTo>
                  <a:pt x="6151923" y="0"/>
                </a:lnTo>
                <a:lnTo>
                  <a:pt x="6151923" y="6160305"/>
                </a:lnTo>
                <a:lnTo>
                  <a:pt x="0" y="6160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91881" y="4572938"/>
            <a:ext cx="7613416" cy="2645036"/>
          </a:xfrm>
          <a:custGeom>
            <a:avLst/>
            <a:gdLst/>
            <a:ahLst/>
            <a:cxnLst/>
            <a:rect r="r" b="b" t="t" l="l"/>
            <a:pathLst>
              <a:path h="2645036" w="7613416">
                <a:moveTo>
                  <a:pt x="0" y="0"/>
                </a:moveTo>
                <a:lnTo>
                  <a:pt x="7613416" y="0"/>
                </a:lnTo>
                <a:lnTo>
                  <a:pt x="7613416" y="2645037"/>
                </a:lnTo>
                <a:lnTo>
                  <a:pt x="0" y="2645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3173" y="2200275"/>
            <a:ext cx="7509982" cy="705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&lt;html lang="en"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determina el lenguaje de la página web.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&lt;meta charset="UTF-8"&gt;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identifica todos los caracteres de todos los idiomas que existen.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&lt;meta name="viewport" ...&gt;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hace que tu página web se vea bien en celulares.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&lt;title&gt;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- titulo de la ventana de nuestra página web.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23529" y="8150708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3"/>
                </a:lnTo>
                <a:lnTo>
                  <a:pt x="0" y="3439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229851" y="3442024"/>
            <a:ext cx="14685526" cy="5813562"/>
          </a:xfrm>
          <a:custGeom>
            <a:avLst/>
            <a:gdLst/>
            <a:ahLst/>
            <a:cxnLst/>
            <a:rect r="r" b="b" t="t" l="l"/>
            <a:pathLst>
              <a:path h="5813562" w="14685526">
                <a:moveTo>
                  <a:pt x="0" y="0"/>
                </a:moveTo>
                <a:lnTo>
                  <a:pt x="14685526" y="0"/>
                </a:lnTo>
                <a:lnTo>
                  <a:pt x="14685526" y="5813561"/>
                </a:lnTo>
                <a:lnTo>
                  <a:pt x="0" y="58135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8509" r="-20005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73871" y="2327599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&lt;h1&gt;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&lt;h6&gt;      &lt;p&gt;      &lt;strong&gt;       &lt;em&gt;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858775" y="1914706"/>
            <a:ext cx="6186616" cy="7343594"/>
          </a:xfrm>
          <a:custGeom>
            <a:avLst/>
            <a:gdLst/>
            <a:ahLst/>
            <a:cxnLst/>
            <a:rect r="r" b="b" t="t" l="l"/>
            <a:pathLst>
              <a:path h="7343594" w="6186616">
                <a:moveTo>
                  <a:pt x="0" y="0"/>
                </a:moveTo>
                <a:lnTo>
                  <a:pt x="6186616" y="0"/>
                </a:lnTo>
                <a:lnTo>
                  <a:pt x="6186616" y="7343594"/>
                </a:lnTo>
                <a:lnTo>
                  <a:pt x="0" y="7343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9851" y="2328953"/>
            <a:ext cx="8035032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&lt;h1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 ... &lt;h6&gt;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niveles de encabezado "títulos y  subtitulos".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&lt;p&gt;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parrafos de texto.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&lt;strong&gt;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  <a:hlinkClick r:id="rId4" tooltip="https://developer.mozilla.org/es/docs/Web/HTML/Reference/Elements/strong"/>
              </a:rPr>
              <a:t> se utiliza para marcar texto con gran importancia o seriedad.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&lt;em&gt;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- Simplemente enfatizar una palabra, concepto o fragmento de texto sobre otro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58923" y="8189611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3"/>
                </a:lnTo>
                <a:lnTo>
                  <a:pt x="0" y="34395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165875" y="3072545"/>
            <a:ext cx="8799929" cy="5961242"/>
          </a:xfrm>
          <a:custGeom>
            <a:avLst/>
            <a:gdLst/>
            <a:ahLst/>
            <a:cxnLst/>
            <a:rect r="r" b="b" t="t" l="l"/>
            <a:pathLst>
              <a:path h="5961242" w="8799929">
                <a:moveTo>
                  <a:pt x="0" y="0"/>
                </a:moveTo>
                <a:lnTo>
                  <a:pt x="8799929" y="0"/>
                </a:lnTo>
                <a:lnTo>
                  <a:pt x="8799929" y="5961242"/>
                </a:lnTo>
                <a:lnTo>
                  <a:pt x="0" y="596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73871" y="2327599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&lt;ul&gt;      &lt;ol&gt;      &lt;li&gt;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630604" y="6344581"/>
            <a:ext cx="6151924" cy="6160305"/>
          </a:xfrm>
          <a:custGeom>
            <a:avLst/>
            <a:gdLst/>
            <a:ahLst/>
            <a:cxnLst/>
            <a:rect r="r" b="b" t="t" l="l"/>
            <a:pathLst>
              <a:path h="6160305" w="6151924">
                <a:moveTo>
                  <a:pt x="0" y="0"/>
                </a:moveTo>
                <a:lnTo>
                  <a:pt x="6151923" y="0"/>
                </a:lnTo>
                <a:lnTo>
                  <a:pt x="6151923" y="6160305"/>
                </a:lnTo>
                <a:lnTo>
                  <a:pt x="0" y="6160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580466" y="2328953"/>
            <a:ext cx="5678834" cy="6086026"/>
          </a:xfrm>
          <a:custGeom>
            <a:avLst/>
            <a:gdLst/>
            <a:ahLst/>
            <a:cxnLst/>
            <a:rect r="r" b="b" t="t" l="l"/>
            <a:pathLst>
              <a:path h="6086026" w="5678834">
                <a:moveTo>
                  <a:pt x="0" y="0"/>
                </a:moveTo>
                <a:lnTo>
                  <a:pt x="5678834" y="0"/>
                </a:lnTo>
                <a:lnTo>
                  <a:pt x="5678834" y="6086026"/>
                </a:lnTo>
                <a:lnTo>
                  <a:pt x="0" y="6086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89" t="0" r="-9237" b="-9911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82652" y="2442804"/>
            <a:ext cx="8035032" cy="597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&lt;ul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define una lista desordenada. Los elementos se muestran con viñetas (puntos negros por defecto)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&lt;ol&gt;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(Ordered List): define una lista ordenada. Los elementos se muestran numerados (1, 2, 3...)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&lt;li&gt;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  <a:hlinkClick r:id="rId4" tooltip="https://developer.mozilla.org/es/docs/Web/HTML/Reference/Elements/strong"/>
              </a:rPr>
              <a:t>(List Item) define un elemento de lista.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1117" y="7995096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4"/>
                </a:lnTo>
                <a:lnTo>
                  <a:pt x="0" y="3439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85967" y="3647695"/>
            <a:ext cx="16419736" cy="1998169"/>
          </a:xfrm>
          <a:custGeom>
            <a:avLst/>
            <a:gdLst/>
            <a:ahLst/>
            <a:cxnLst/>
            <a:rect r="r" b="b" t="t" l="l"/>
            <a:pathLst>
              <a:path h="1998169" w="16419736">
                <a:moveTo>
                  <a:pt x="0" y="0"/>
                </a:moveTo>
                <a:lnTo>
                  <a:pt x="16419736" y="0"/>
                </a:lnTo>
                <a:lnTo>
                  <a:pt x="16419736" y="1998169"/>
                </a:lnTo>
                <a:lnTo>
                  <a:pt x="0" y="1998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114171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73871" y="2327599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&lt;img&gt;      &lt;br&gt;      &lt;a&gt;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2036" y="5980141"/>
            <a:ext cx="14043928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Eres libre de buscar una imagen en internet a tu gusto y copiar dicha dirección de imagen para ser usada en el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src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. Al igual que en el 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href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, eres libre de colocar un enlace de una página web a tu gusto.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1544877" y="6665861"/>
            <a:ext cx="5928206" cy="5936283"/>
          </a:xfrm>
          <a:custGeom>
            <a:avLst/>
            <a:gdLst/>
            <a:ahLst/>
            <a:cxnLst/>
            <a:rect r="r" b="b" t="t" l="l"/>
            <a:pathLst>
              <a:path h="5936283" w="5928206">
                <a:moveTo>
                  <a:pt x="5928206" y="0"/>
                </a:moveTo>
                <a:lnTo>
                  <a:pt x="0" y="0"/>
                </a:lnTo>
                <a:lnTo>
                  <a:pt x="0" y="5936282"/>
                </a:lnTo>
                <a:lnTo>
                  <a:pt x="5928206" y="5936282"/>
                </a:lnTo>
                <a:lnTo>
                  <a:pt x="592820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613796" y="2383609"/>
            <a:ext cx="6036987" cy="6237385"/>
          </a:xfrm>
          <a:custGeom>
            <a:avLst/>
            <a:gdLst/>
            <a:ahLst/>
            <a:cxnLst/>
            <a:rect r="r" b="b" t="t" l="l"/>
            <a:pathLst>
              <a:path h="6237385" w="6036987">
                <a:moveTo>
                  <a:pt x="0" y="0"/>
                </a:moveTo>
                <a:lnTo>
                  <a:pt x="6036987" y="0"/>
                </a:lnTo>
                <a:lnTo>
                  <a:pt x="6036987" y="6237385"/>
                </a:lnTo>
                <a:lnTo>
                  <a:pt x="0" y="6237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5388" y="2200275"/>
            <a:ext cx="9228375" cy="705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&lt;img src="..." alt="..."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sirve para insertar imágenes en una página web.</a:t>
            </a:r>
          </a:p>
          <a:p>
            <a:pPr algn="l">
              <a:lnSpc>
                <a:spcPts val="4320"/>
              </a:lnSpc>
            </a:pP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src: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 Es la foto real que vas a meter dentro del marco.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alt: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La Nota de Respaldo ( en caso de que se caiga la imagen ).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&lt;a href="..."&gt;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sirve para crear un enlace que lleva al usuario a otra página web.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&lt;br&gt;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  <a:hlinkClick r:id="rId4" tooltip="https://developer.mozilla.org/es/docs/Web/HTML/Reference/Elements/strong"/>
              </a:rPr>
              <a:t>s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alto de línea.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95850" y="8033999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3" y="0"/>
                </a:lnTo>
                <a:lnTo>
                  <a:pt x="3439533" y="3439534"/>
                </a:lnTo>
                <a:lnTo>
                  <a:pt x="0" y="3439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63911" y="2473542"/>
            <a:ext cx="16960178" cy="7559909"/>
          </a:xfrm>
          <a:custGeom>
            <a:avLst/>
            <a:gdLst/>
            <a:ahLst/>
            <a:cxnLst/>
            <a:rect r="r" b="b" t="t" l="l"/>
            <a:pathLst>
              <a:path h="7559909" w="16960178">
                <a:moveTo>
                  <a:pt x="0" y="0"/>
                </a:moveTo>
                <a:lnTo>
                  <a:pt x="16960178" y="0"/>
                </a:lnTo>
                <a:lnTo>
                  <a:pt x="16960178" y="7559909"/>
                </a:lnTo>
                <a:lnTo>
                  <a:pt x="0" y="7559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122036" y="946259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2036" y="1795625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&lt;header&gt;      &lt;main&gt;      &lt;section&gt;      &lt;footer&gt;      &lt;div&gt;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630604" y="6344581"/>
            <a:ext cx="6151924" cy="6160305"/>
          </a:xfrm>
          <a:custGeom>
            <a:avLst/>
            <a:gdLst/>
            <a:ahLst/>
            <a:cxnLst/>
            <a:rect r="r" b="b" t="t" l="l"/>
            <a:pathLst>
              <a:path h="6160305" w="6151924">
                <a:moveTo>
                  <a:pt x="0" y="0"/>
                </a:moveTo>
                <a:lnTo>
                  <a:pt x="6151923" y="0"/>
                </a:lnTo>
                <a:lnTo>
                  <a:pt x="6151923" y="6160305"/>
                </a:lnTo>
                <a:lnTo>
                  <a:pt x="0" y="6160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544251" y="2058593"/>
            <a:ext cx="6760082" cy="7062772"/>
          </a:xfrm>
          <a:custGeom>
            <a:avLst/>
            <a:gdLst/>
            <a:ahLst/>
            <a:cxnLst/>
            <a:rect r="r" b="b" t="t" l="l"/>
            <a:pathLst>
              <a:path h="7062772" w="6760082">
                <a:moveTo>
                  <a:pt x="0" y="0"/>
                </a:moveTo>
                <a:lnTo>
                  <a:pt x="6760082" y="0"/>
                </a:lnTo>
                <a:lnTo>
                  <a:pt x="6760082" y="7062772"/>
                </a:lnTo>
                <a:lnTo>
                  <a:pt x="0" y="7062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229851" y="2875354"/>
            <a:ext cx="8314401" cy="54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&lt;header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el encabezado de una página web.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&lt;main&gt;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envuelve toda la información central y única de esa página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&lt;section&gt;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 Sirve para agrupar bloques de contenido que están relacionados entre sí.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385520" y="7761679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3439534" y="0"/>
                </a:moveTo>
                <a:lnTo>
                  <a:pt x="0" y="0"/>
                </a:lnTo>
                <a:lnTo>
                  <a:pt x="0" y="3439534"/>
                </a:lnTo>
                <a:lnTo>
                  <a:pt x="3439534" y="3439534"/>
                </a:lnTo>
                <a:lnTo>
                  <a:pt x="343953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544251" y="2058593"/>
            <a:ext cx="6760082" cy="7062772"/>
          </a:xfrm>
          <a:custGeom>
            <a:avLst/>
            <a:gdLst/>
            <a:ahLst/>
            <a:cxnLst/>
            <a:rect r="r" b="b" t="t" l="l"/>
            <a:pathLst>
              <a:path h="7062772" w="6760082">
                <a:moveTo>
                  <a:pt x="0" y="0"/>
                </a:moveTo>
                <a:lnTo>
                  <a:pt x="6760082" y="0"/>
                </a:lnTo>
                <a:lnTo>
                  <a:pt x="6760082" y="7062772"/>
                </a:lnTo>
                <a:lnTo>
                  <a:pt x="0" y="70627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385520" y="7761679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3439534" y="0"/>
                </a:moveTo>
                <a:lnTo>
                  <a:pt x="0" y="0"/>
                </a:lnTo>
                <a:lnTo>
                  <a:pt x="0" y="3439534"/>
                </a:lnTo>
                <a:lnTo>
                  <a:pt x="3439534" y="3439534"/>
                </a:lnTo>
                <a:lnTo>
                  <a:pt x="343953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3418279"/>
            <a:ext cx="8003260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&lt;footer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es el pie de página de nuestro sitio web.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&lt;div&gt;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Se usa puramente como una </a:t>
            </a:r>
            <a:r>
              <a:rPr lang="en-US" sz="3600" i="true">
                <a:solidFill>
                  <a:srgbClr val="181717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"caja de cartón"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para agrupar varios elementos y poder moverlos, estilizarlos con </a:t>
            </a:r>
            <a:r>
              <a:rPr lang="en-US" sz="3600" i="true">
                <a:solidFill>
                  <a:srgbClr val="181717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CSS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o darles diseño juntos.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62952" y="2601778"/>
            <a:ext cx="15596348" cy="7359845"/>
          </a:xfrm>
          <a:custGeom>
            <a:avLst/>
            <a:gdLst/>
            <a:ahLst/>
            <a:cxnLst/>
            <a:rect r="r" b="b" t="t" l="l"/>
            <a:pathLst>
              <a:path h="7359845" w="15596348">
                <a:moveTo>
                  <a:pt x="0" y="0"/>
                </a:moveTo>
                <a:lnTo>
                  <a:pt x="15596348" y="0"/>
                </a:lnTo>
                <a:lnTo>
                  <a:pt x="15596348" y="7359846"/>
                </a:lnTo>
                <a:lnTo>
                  <a:pt x="0" y="7359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122036" y="946259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2036" y="1859743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&lt;table&gt;      &lt;tr&gt;      &lt;th&gt;      &lt;td&gt;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630604" y="6344581"/>
            <a:ext cx="6151924" cy="6160305"/>
          </a:xfrm>
          <a:custGeom>
            <a:avLst/>
            <a:gdLst/>
            <a:ahLst/>
            <a:cxnLst/>
            <a:rect r="r" b="b" t="t" l="l"/>
            <a:pathLst>
              <a:path h="6160305" w="6151924">
                <a:moveTo>
                  <a:pt x="0" y="0"/>
                </a:moveTo>
                <a:lnTo>
                  <a:pt x="6151923" y="0"/>
                </a:lnTo>
                <a:lnTo>
                  <a:pt x="6151923" y="6160305"/>
                </a:lnTo>
                <a:lnTo>
                  <a:pt x="0" y="6160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372559" y="3794019"/>
            <a:ext cx="6798496" cy="3323315"/>
          </a:xfrm>
          <a:custGeom>
            <a:avLst/>
            <a:gdLst/>
            <a:ahLst/>
            <a:cxnLst/>
            <a:rect r="r" b="b" t="t" l="l"/>
            <a:pathLst>
              <a:path h="3323315" w="6798496">
                <a:moveTo>
                  <a:pt x="0" y="0"/>
                </a:moveTo>
                <a:lnTo>
                  <a:pt x="6798496" y="0"/>
                </a:lnTo>
                <a:lnTo>
                  <a:pt x="6798496" y="3323315"/>
                </a:lnTo>
                <a:lnTo>
                  <a:pt x="0" y="3323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381" b="-3653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039472" y="7878113"/>
            <a:ext cx="3760482" cy="3760482"/>
          </a:xfrm>
          <a:custGeom>
            <a:avLst/>
            <a:gdLst/>
            <a:ahLst/>
            <a:cxnLst/>
            <a:rect r="r" b="b" t="t" l="l"/>
            <a:pathLst>
              <a:path h="3760482" w="3760482">
                <a:moveTo>
                  <a:pt x="0" y="0"/>
                </a:moveTo>
                <a:lnTo>
                  <a:pt x="3760482" y="0"/>
                </a:lnTo>
                <a:lnTo>
                  <a:pt x="3760482" y="3760482"/>
                </a:lnTo>
                <a:lnTo>
                  <a:pt x="0" y="3760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2875354"/>
            <a:ext cx="8003260" cy="542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&lt;table</a:t>
            </a: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es la caja grande que envuelve toda la tabla.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&lt;tr&gt;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 crea una fila.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&lt;th&gt;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crea una celda de encabezado.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&lt;td&gt;</a:t>
            </a:r>
            <a:r>
              <a:rPr lang="en-US" sz="3600">
                <a:solidFill>
                  <a:srgbClr val="181717"/>
                </a:solidFill>
                <a:latin typeface="Montserrat"/>
                <a:ea typeface="Montserrat"/>
                <a:cs typeface="Montserrat"/>
                <a:sym typeface="Montserrat"/>
              </a:rPr>
              <a:t> - crea una celda de datos normal.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 Básica de HTML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90310" y="3967441"/>
            <a:ext cx="13403694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I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 una página web sobre tu Top 3 cosas que más te gustan, respetando el uso del identado.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DAHXdcw6lRw</dc:identifier>
  <dcterms:modified xsi:type="dcterms:W3CDTF">2011-08-01T06:04:30Z</dcterms:modified>
  <cp:revision>1</cp:revision>
  <dc:title>Curso de Introducción al Desarrollo Web Módulo I</dc:title>
</cp:coreProperties>
</file>